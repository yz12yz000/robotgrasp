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夹爪的位姿说明它要到哪里、朝向哪里，但机械臂电机需要的是六个关节分别转多少度。左边的逆运动学，也叫 IK，就是把末端目标换算成关节角度。公式中，q 是六个关节角度，T 是工具的位置和朝向。人把手伸到同一个位置时，肘部可以高一些或低一些；机械臂也可能用不同关节姿势到达同一目标。程序先把夹持中心目标转换到规划使用的工具参考点，再从当前真实关节状态出发，最多尝试八次求解，按各关节需要转动的角度平方和排序，最多选三个解继续规划。</a:t>
            </a:r>
          </a:p>
          <a:p/>
          <a:p>
            <a:r>
              <a:t>中间的图解释 RRTConnect。它从起点和终点两边分别扩展搜索树，尝试把两边连接起来。图中的每个点代表一组关节角度，深色折线表示连接成功后的一条路线。真实机械臂有六个关节，图中只用两个坐标轴帮助理解。MoveIt 2 是组织整个规划过程的软件框架，OMPL 是算法库，RRTConnect 是其中选择的搜索算法。IK 决定手臂最后怎么摆，路径搜索决定中间怎么走。</a:t>
            </a:r>
          </a:p>
          <a:p/>
          <a:p>
            <a:r>
              <a:t>右边解释笛卡尔路径。程序先规定夹爪沿一条竖直线移动，再沿线逐步计算各个位置对应的关节角度。小坐标轴方向相同，表示这段升降保持工具朝向。五毫米是路径计算的插值步长，不是机器人每走五毫米停一下。只有整条路径都计算成功才接受。两张图都是方法原理示意，不是实际轨迹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抓放分为上面六段。先到碗沿上方十厘米，张开夹爪，向下到达抓取位置，闭合后抬升十厘米；然后移动到事先保存的放置准备位，竖直下降二十厘米，到位并静止一秒后释放，再向上返回准备位。深绿色两段采用 RRTConnect 搜索关节路径，浅绿色四段采用笛卡尔直线路径。程序在动作前先把六段全部规划出来，前一段的结束状态作为后一段的开始状态。</a:t>
            </a:r>
          </a:p>
          <a:p/>
          <a:p>
            <a:r>
              <a:t>第一组检查关注能不能到达，以及中间状态是否有效。目标要有有效关节解，关节不能超过允许角度，夹持中心不能越出工作范围，还要通过规划场景中的碰撞检查。检查会覆盖中间轨迹的采样点，而不只是出发点和终点。</a:t>
            </a:r>
          </a:p>
          <a:p/>
          <a:p>
            <a:r>
              <a:t>第二组检查关注升降是否符合要求。必须算出完整路径，关节不能突然大幅跳变，夹爪不能明显向旁边偏移或改变方向。路径终点的位置偏差要求不超过两毫米，朝向偏差不超过零点零二弧度，约一点一五度。这是程序接受规划结果的阈值，不是实测定位精度。</a:t>
            </a:r>
          </a:p>
          <a:p/>
          <a:p>
            <a:r>
              <a:t>第三组检查关注速度和执行条件。路线可行但太快时，程序会延长运动时间来降低速度和加速度；如果减速后超过允许时长，就拒绝。一个抓取位姿不合适时，先尝试不同关节解；仍无法完成规划时，再换下一个抓取候选。换方案发生在真实运动之前。最终交给控制器的是带时间的关节轨迹，每段开始前还会检查实际关节状态与计划起点相符、控制器已准备好，并再次检查路径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01 /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247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From a grasp pose to a planned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62456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MoveIt 2 combines inverse kinematics, joint-space search and Cartesian path computation.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MOTION PLANNING METHODS  / 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01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47672"/>
            <a:ext cx="3520440" cy="4041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947672"/>
            <a:ext cx="3520440" cy="4041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65592" y="1947672"/>
            <a:ext cx="3520440" cy="4041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12264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87F83"/>
                </a:solidFill>
                <a:latin typeface="Liberation Sans"/>
              </a:defRPr>
            </a:pPr>
            <a:r>
              <a:t>Inverse kinematics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42032"/>
            <a:ext cx="32095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536678"/>
                </a:solidFill>
                <a:latin typeface="Liberation Sans"/>
              </a:defRPr>
            </a:pPr>
            <a:r>
              <a:t>POSE → JOINT CONFIGURATIONS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112264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87F83"/>
                </a:solidFill>
                <a:latin typeface="Liberation Sans"/>
              </a:defRPr>
            </a:pPr>
            <a:r>
              <a:t>RRTConnect / OMPL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542032"/>
            <a:ext cx="32095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536678"/>
                </a:solidFill>
                <a:latin typeface="Liberation Sans"/>
              </a:defRPr>
            </a:pPr>
            <a:r>
              <a:t>BIDIRECTIONAL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12264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87F83"/>
                </a:solidFill>
                <a:latin typeface="Liberation Sans"/>
              </a:defRPr>
            </a:pPr>
            <a:r>
              <a:t>Cartesian interpolation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32095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536678"/>
                </a:solidFill>
                <a:latin typeface="Liberation Sans"/>
              </a:defRPr>
            </a:pPr>
            <a:r>
              <a:t>TOOL-SPACE WAYPOINTS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017520"/>
            <a:ext cx="3008376" cy="612648"/>
          </a:xfrm>
          <a:prstGeom prst="rect">
            <a:avLst/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91256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Target: position + orientation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5283C"/>
                </a:solidFill>
                <a:latin typeface="Liberation Sans"/>
              </a:defRPr>
            </a:pPr>
            <a:r>
              <a:t>FK(q) = T_target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4398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900" b="0">
                <a:solidFill>
                  <a:srgbClr val="536678"/>
                </a:solidFill>
                <a:latin typeface="Liberation Sans"/>
              </a:defRPr>
            </a:pPr>
            <a:r>
              <a:t>q = [q₁, q₂, …, q₆]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946904"/>
            <a:ext cx="309981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One tool pose, multiple IK solutions.</a:t>
            </a:r>
          </a:p>
        </p:txBody>
      </p:sp>
      <p:pic>
        <p:nvPicPr>
          <p:cNvPr id="23" name="Picture 22" descr="planning_principles.png"/>
          <p:cNvPicPr>
            <a:picLocks noChangeAspect="1"/>
          </p:cNvPicPr>
          <p:nvPr/>
        </p:nvPicPr>
        <p:blipFill>
          <a:blip r:embed="rId2"/>
          <a:srcRect r="49000"/>
          <a:stretch>
            <a:fillRect/>
          </a:stretch>
        </p:blipFill>
        <p:spPr>
          <a:xfrm>
            <a:off x="4611196" y="2852928"/>
            <a:ext cx="2966558" cy="2423160"/>
          </a:xfrm>
          <a:prstGeom prst="rect">
            <a:avLst/>
          </a:prstGeom>
        </p:spPr>
      </p:pic>
      <p:pic>
        <p:nvPicPr>
          <p:cNvPr id="24" name="Picture 23" descr="planning_principles.png"/>
          <p:cNvPicPr>
            <a:picLocks noChangeAspect="1"/>
          </p:cNvPicPr>
          <p:nvPr/>
        </p:nvPicPr>
        <p:blipFill>
          <a:blip r:embed="rId2"/>
          <a:srcRect l="53000"/>
          <a:stretch>
            <a:fillRect/>
          </a:stretch>
        </p:blipFill>
        <p:spPr>
          <a:xfrm>
            <a:off x="8558868" y="2852928"/>
            <a:ext cx="2733887" cy="2423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088" y="5431536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87F83"/>
                </a:solidFill>
                <a:latin typeface="Liberation Sans"/>
              </a:defRPr>
            </a:pPr>
            <a:r>
              <a:t>Rank by J = Σᵢ(qᵢ − qᵢ,current)²</a:t>
            </a:r>
          </a:p>
          <a:p>
            <a:pPr>
              <a:spcAft>
                <a:spcPts val="300"/>
              </a:spcAft>
              <a:defRPr sz="1400" b="0">
                <a:solidFill>
                  <a:srgbClr val="087F83"/>
                </a:solidFill>
                <a:latin typeface="Liberation Sans"/>
              </a:defRPr>
            </a:pPr>
            <a:r>
              <a:t>8 IK attempts; plan up to 3 solutions.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5431536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Grow trees from start and goal.</a:t>
            </a:r>
          </a:p>
          <a:p>
            <a:pPr>
              <a:spcAft>
                <a:spcPts val="3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Connect valid joint states.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431536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Line waypoints → successive IK.</a:t>
            </a:r>
          </a:p>
          <a:p>
            <a:pPr>
              <a:spcAft>
                <a:spcPts val="3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5 mm step; full path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199632"/>
            <a:ext cx="11183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36678"/>
                </a:solidFill>
                <a:latin typeface="Liberation Sans"/>
              </a:defRPr>
            </a:pPr>
            <a:r>
              <a:t>Method illustrations: joint-space projection (centre), fixed-orientation tool path (right). Sources: M1, M3.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02 / TASK PLANNING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247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Plan the complete task, then validate and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62456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Two joint-space transfers and four Cartesian segments are planned before any physical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MOTION PLANNING METHODS  / 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02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1764792" cy="1115568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01 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Liberation Sans"/>
              </a:defRPr>
            </a:pPr>
            <a:r>
              <a:t>10 cm above 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RRTConnect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6584" y="1920240"/>
            <a:ext cx="1764792" cy="1115568"/>
          </a:xfrm>
          <a:prstGeom prst="rect">
            <a:avLst/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83C"/>
                </a:solidFill>
                <a:latin typeface="Liberation Sans"/>
              </a:defRPr>
            </a:pPr>
            <a:r>
              <a:t>02  Descend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5283C"/>
                </a:solidFill>
                <a:latin typeface="Liberation Sans"/>
              </a:defRPr>
            </a:pPr>
            <a:r>
              <a:t>To grasp 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5283C"/>
                </a:solidFill>
                <a:latin typeface="Liberation Sans"/>
              </a:defRPr>
            </a:pPr>
            <a:r>
              <a:t>Cartesian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920240"/>
            <a:ext cx="1764792" cy="1115568"/>
          </a:xfrm>
          <a:prstGeom prst="rect">
            <a:avLst/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83C"/>
                </a:solidFill>
                <a:latin typeface="Liberation Sans"/>
              </a:defRPr>
            </a:pPr>
            <a:r>
              <a:t>03 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5283C"/>
                </a:solidFill>
                <a:latin typeface="Liberation Sans"/>
              </a:defRPr>
            </a:pPr>
            <a:r>
              <a:t>+10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5283C"/>
                </a:solidFill>
                <a:latin typeface="Liberation Sans"/>
              </a:defRPr>
            </a:pPr>
            <a:r>
              <a:t>Cartesian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1920240"/>
            <a:ext cx="1764792" cy="1115568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04 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Liberation Sans"/>
              </a:defRPr>
            </a:pPr>
            <a:r>
              <a:t>Fixed ready 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RRTConnect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920240"/>
            <a:ext cx="1764792" cy="1115568"/>
          </a:xfrm>
          <a:prstGeom prst="rect">
            <a:avLst/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83C"/>
                </a:solidFill>
                <a:latin typeface="Liberation Sans"/>
              </a:defRPr>
            </a:pPr>
            <a:r>
              <a:t>05  Lower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5283C"/>
                </a:solidFill>
                <a:latin typeface="Liberation Sans"/>
              </a:defRPr>
            </a:pPr>
            <a:r>
              <a:t>−20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5283C"/>
                </a:solidFill>
                <a:latin typeface="Liberation Sans"/>
              </a:defRPr>
            </a:pPr>
            <a:r>
              <a:t>Cartesian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920240"/>
            <a:ext cx="1764792" cy="1115568"/>
          </a:xfrm>
          <a:prstGeom prst="rect">
            <a:avLst/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30968" y="205740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83C"/>
                </a:solidFill>
                <a:latin typeface="Liberation Sans"/>
              </a:defRPr>
            </a:pPr>
            <a:r>
              <a:t>06 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8" y="2450592"/>
            <a:ext cx="15453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5283C"/>
                </a:solidFill>
                <a:latin typeface="Liberation Sans"/>
              </a:defRPr>
            </a:pPr>
            <a:r>
              <a:t>+20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76148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5283C"/>
                </a:solidFill>
                <a:latin typeface="Liberation Sans"/>
              </a:defRPr>
            </a:pPr>
            <a:r>
              <a:t>Cartesian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20040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36678"/>
                </a:solidFill>
                <a:latin typeface="Liberation Sans"/>
              </a:defRPr>
            </a:pPr>
            <a:r>
              <a:t>Gripper sequence: open before descent → close before lift → hold still for 1 s at drop → release → return.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76472"/>
            <a:ext cx="35204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776472"/>
            <a:ext cx="3520440" cy="41148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968496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01  STATE &amp; GEOMETRY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440740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Valid IK and workspace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Joint bounds along the path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Sampled scene collision checks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4256" y="3776472"/>
            <a:ext cx="35204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34256" y="3776472"/>
            <a:ext cx="3520440" cy="41148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968496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02  CARTESIAN FIDELITY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40740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Complete path; no large joint jumps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Bounded lateral / angular deviation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Endpoint: 2 mm and 0.02 rad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3776472"/>
            <a:ext cx="35204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3776472"/>
            <a:ext cx="3520440" cy="41148"/>
          </a:xfrm>
          <a:prstGeom prst="rect">
            <a:avLst/>
          </a:prstGeom>
          <a:solidFill>
            <a:srgbClr val="087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3968496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03  TIMING &amp; EXECUTION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40740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Scale time to speed / acceleration limits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Reject excessive motion duration</a:t>
            </a:r>
          </a:p>
          <a:p>
            <a:pPr>
              <a:spcAft>
                <a:spcPts val="300"/>
              </a:spcAft>
              <a:defRPr sz="1400" b="0">
                <a:solidFill>
                  <a:srgbClr val="15283C"/>
                </a:solidFill>
                <a:latin typeface="Liberation Sans"/>
              </a:defRPr>
            </a:pPr>
            <a:r>
              <a:t>Recheck start state and controller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5504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87F83"/>
                </a:solidFill>
                <a:latin typeface="Liberation Sans"/>
              </a:defRPr>
            </a:pPr>
            <a:r>
              <a:t>PRE-MOTION SELECTION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62072" y="5532120"/>
            <a:ext cx="88148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Try another IK solution; if infeasible, try the next grasp candidate.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952744"/>
            <a:ext cx="11183112" cy="32004"/>
          </a:xfrm>
          <a:prstGeom prst="rect">
            <a:avLst/>
          </a:prstGeom>
          <a:solidFill>
            <a:srgbClr val="D9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8990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87F83"/>
                </a:solidFill>
                <a:latin typeface="Liberation Sans"/>
              </a:defRPr>
            </a:pPr>
            <a:r>
              <a:t>Timed joint trajectory → MoveIt ExecuteTrajectory → Robot trajectory 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Grasp Motion Planning — Methods and Validation</dc:title>
  <dc:subject>Two-slide explanation of IK, RRTConnect, Cartesian planning and trajectory validation</dc:subject>
  <dc:creator>Robot Grasp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