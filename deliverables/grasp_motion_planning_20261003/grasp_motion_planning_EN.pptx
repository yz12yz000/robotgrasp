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抓取位姿说明的是夹爪要到哪里、朝向哪里，但是机械臂的电机需要知道六个关节分别转多少度。逆运动学，也就是 IK，就是把末端的位置和朝向换算成关节角度。人伸手拿杯子时，肘部可以抬高，也可以放低；同样，机械臂到达一个末端位姿，也可能有多种关节姿势。</a:t>
            </a:r>
          </a:p>
          <a:p/>
          <a:p>
            <a:r>
              <a:t>程序首先把两指中间的夹持中心目标，换算成规划器使用的工具参考点目标。两者之间有固定偏移，转换之后才能让真正的夹持位置到达碗沿。同时读取机器人当前真实关节角度，确定从哪里开始运动。</a:t>
            </a:r>
          </a:p>
          <a:p/>
          <a:p>
            <a:r>
              <a:t>公式 FK(q)=T 的意思是：六个关节角度决定工具的位置和朝向。IK 就是已知右边的目标，反过来求左边的角度。程序最多尝试八次不同的初始猜测，去掉重复或无效解，再按照各关节相对当前位置需要转动多少来排序。平方和越小，就越优先考虑；最多选三个解继续尝试规划。八次尝试并不等于一定得到八个不同解。</a:t>
            </a:r>
          </a:p>
          <a:p/>
          <a:p>
            <a:r>
              <a:t>IK 只回答最后怎样摆放手臂。MoveIt 2 还要调用路径规划器，计算从当前姿势到目标姿势的中间运动。右侧照片是项目实际实验现场，用来对应机器人、夹爪和碗之间的关系。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完整抓放被拆成六段。第一段先移动到抓取点上方十厘米，接着张开夹爪，竖直下降到碗沿，闭合后再抬升十厘米。然后移动到事先保存的放置准备位，竖直下降二十厘米，到位并静止一秒后张开夹爪，最后抬升二十厘米返回准备位。</a:t>
            </a:r>
          </a:p>
          <a:p/>
          <a:p>
            <a:r>
              <a:t>接近和搬运使用 RRTConnect。MoveIt 是组织规划和执行的软件框架，OMPL 是规划算法库，RRTConnect 是其中实际选择的算法。它可以理解为从出发点和终点两边探路，逐步扩展，直到两边接上。这里的一个点代表六个关节的一组角度，不是桌面上的一个位置；检查的是整条机械臂如何从一种姿势变到另一种姿势。</a:t>
            </a:r>
          </a:p>
          <a:p/>
          <a:p>
            <a:r>
              <a:t>下降和抬升采用另一种方法：先规定夹持中心沿竖直线移动，再沿着这条线逐步求出关节角度。这叫笛卡尔路径计算。这样才能明确要求夹爪向下接近碗沿、向上提起，而不只是要求最终到达某个点。程序的路径插值步长为五毫米，这只是计算时的间隔，机器人不会每走五毫米就停一下。</a:t>
            </a:r>
          </a:p>
          <a:p/>
          <a:p>
            <a:r>
              <a:t>只有整条直线路径都计算成功才接受。如果只算出九成路径，程序不会先执行九成再临时想办法。照片来自绿色碗实际抓取记录；六段动作采用的是同一套抓取与放置流程。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规划器返回一条路线以后，程序还要检查这条路线能不能用于当前任务。首先判断目标有没有有效关节解、是否在工作范围内。然后检查中间运动，而不只是看出发点和终点：关节不能超过允许角度，夹持中心不能越出工作范围，规划场景中的状态检查也必须通过。</a:t>
            </a:r>
          </a:p>
          <a:p/>
          <a:p>
            <a:r>
              <a:t>对于下降和抬升，还要求路径完整、关节不能突然大幅跳变，夹爪不能明显向旁边偏移或改变朝向。到达终点时，计算结果与目标的位置偏差要求不超过两毫米，姿态偏差不超过零点零二弧度，约一点一五度。这些数值是程序接受方案的门槛，不是实验测得的定位精度。</a:t>
            </a:r>
          </a:p>
          <a:p/>
          <a:p>
            <a:r>
              <a:t>如果路线可以走，但是速度或者加速度太大，程序会把整段运动放慢。放慢后如果耗时超过允许范围，也不能接受。对同一个抓取位姿，程序可以先换一种关节姿势重新规划；如果仍然无法形成完整可行方案，再尝试碗沿的下一个抓取候选。这些选择都发生在真实动作开始之前，而且六段运动要全部规划通过。</a:t>
            </a:r>
          </a:p>
          <a:p/>
          <a:p>
            <a:r>
              <a:t>最终发送给机器人的是带时间的关节轨迹，也就是规定每个时刻六个关节应该在哪里、以多快的速度运动。MoveIt 把它交给机器人轨迹控制器执行。每段开始前还会确认机械臂实际位置与规划起点一致、控制器已准备好，并再次检查路径状态，避免把已经不适用的计划直接发给机器人。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87F83"/>
                </a:solidFill>
                <a:latin typeface="Liberation Sans"/>
              </a:defRPr>
            </a:pPr>
            <a:r>
              <a:t>01 / INVERSE KINEMATICS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24712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3100" b="1">
                <a:solidFill>
                  <a:srgbClr val="15283C"/>
                </a:solidFill>
                <a:latin typeface="Liberation Sans"/>
              </a:defRPr>
            </a:pPr>
            <a:r>
              <a:t>From grasp pose to joint motion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89888"/>
            <a:ext cx="1115568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700" b="0">
                <a:solidFill>
                  <a:srgbClr val="536678"/>
                </a:solidFill>
                <a:latin typeface="Liberation Sans"/>
              </a:defRPr>
            </a:pPr>
            <a:r>
              <a:t>MoveIt 2 connects a geometric grasp target to an executable robot trajectory.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83112" cy="10972"/>
          </a:xfrm>
          <a:prstGeom prst="rect">
            <a:avLst/>
          </a:prstGeom>
          <a:solidFill>
            <a:srgbClr val="D9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914400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536678"/>
                </a:solidFill>
                <a:latin typeface="Liberation Sans"/>
              </a:defRPr>
            </a:pPr>
            <a:r>
              <a:t>RIM_LOCATOR  /  MOTION PLANNING  /  03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28816"/>
            <a:ext cx="731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87F83"/>
                </a:solidFill>
                <a:latin typeface="Liberation Sans"/>
              </a:defRPr>
            </a:pPr>
            <a:r>
              <a:t>01 /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84248"/>
            <a:ext cx="6080760" cy="104241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103120"/>
            <a:ext cx="5650992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87F83"/>
                </a:solidFill>
                <a:latin typeface="Liberation Sans"/>
              </a:defRPr>
            </a:pPr>
            <a:r>
              <a:t>01  ALIGN THE 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432304"/>
            <a:ext cx="565099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800" b="0">
                <a:solidFill>
                  <a:srgbClr val="15283C"/>
                </a:solidFill>
                <a:latin typeface="Liberation Sans"/>
              </a:defRPr>
            </a:pPr>
            <a:r>
              <a:t>Convert grasp_center to tool0.</a:t>
            </a:r>
          </a:p>
          <a:p>
            <a:pPr>
              <a:spcAft>
                <a:spcPts val="200"/>
              </a:spcAft>
              <a:defRPr sz="1800" b="0">
                <a:solidFill>
                  <a:srgbClr val="15283C"/>
                </a:solidFill>
                <a:latin typeface="Liberation Sans"/>
              </a:defRPr>
            </a:pPr>
            <a:r>
              <a:t>Use measured joints as the starting state.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45536"/>
            <a:ext cx="6080760" cy="104241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3264408"/>
            <a:ext cx="5650992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87F83"/>
                </a:solidFill>
                <a:latin typeface="Liberation Sans"/>
              </a:defRPr>
            </a:pPr>
            <a:r>
              <a:t>02  SOLVE INVERSE KINEMATICS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593591"/>
            <a:ext cx="565099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800" b="0">
                <a:solidFill>
                  <a:srgbClr val="15283C"/>
                </a:solidFill>
                <a:latin typeface="Liberation Sans"/>
              </a:defRPr>
            </a:pPr>
            <a:r>
              <a:t>Find joint angles that realize the tool pose.</a:t>
            </a:r>
          </a:p>
          <a:p>
            <a:pPr>
              <a:spcAft>
                <a:spcPts val="200"/>
              </a:spcAft>
              <a:defRPr sz="1800" b="0">
                <a:solidFill>
                  <a:srgbClr val="15283C"/>
                </a:solidFill>
                <a:latin typeface="Liberation Sans"/>
              </a:defRPr>
            </a:pPr>
            <a:r>
              <a:t>One pose may have several arm configurations.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306824"/>
            <a:ext cx="6080760" cy="104241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4425696"/>
            <a:ext cx="5650992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87F83"/>
                </a:solidFill>
                <a:latin typeface="Liberation Sans"/>
              </a:defRPr>
            </a:pPr>
            <a:r>
              <a:t>03  PREFER NEARBY JOINT SOLUTIONS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754880"/>
            <a:ext cx="565099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800" b="0">
                <a:solidFill>
                  <a:srgbClr val="15283C"/>
                </a:solidFill>
                <a:latin typeface="Liberation Sans"/>
              </a:defRPr>
            </a:pPr>
            <a:r>
              <a:t>Rank valid IK solutions by joint displacement.</a:t>
            </a:r>
          </a:p>
          <a:p>
            <a:pPr>
              <a:spcAft>
                <a:spcPts val="200"/>
              </a:spcAft>
              <a:defRPr sz="1800" b="0">
                <a:solidFill>
                  <a:srgbClr val="15283C"/>
                </a:solidFill>
                <a:latin typeface="Liberation Sans"/>
              </a:defRPr>
            </a:pPr>
            <a:r>
              <a:t>Up to 8 search attempts; plan up to 3 solutions.</a:t>
            </a:r>
          </a:p>
        </p:txBody>
      </p:sp>
      <p:pic>
        <p:nvPicPr>
          <p:cNvPr id="18" name="Picture 17" descr="I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984819"/>
            <a:ext cx="4782312" cy="298894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903720" y="5074920"/>
            <a:ext cx="47548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200" b="0">
                <a:solidFill>
                  <a:srgbClr val="536678"/>
                </a:solidFill>
                <a:latin typeface="Liberation Sans"/>
              </a:defRPr>
            </a:pPr>
            <a:r>
              <a:t>Original laboratory scene · 27 Sep 2026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03720" y="5468112"/>
            <a:ext cx="4782312" cy="566928"/>
          </a:xfrm>
          <a:prstGeom prst="roundRect">
            <a:avLst>
              <a:gd name="adj" fmla="val 10000"/>
            </a:avLst>
          </a:prstGeom>
          <a:solidFill>
            <a:srgbClr val="E8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6600" y="5623560"/>
            <a:ext cx="442569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087F83"/>
                </a:solidFill>
                <a:latin typeface="Liberation Sans"/>
              </a:defRPr>
            </a:pPr>
            <a:r>
              <a:t>IK: joint angles. Planning: a route.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14416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087F83"/>
                </a:solidFill>
                <a:latin typeface="Liberation Sans"/>
              </a:defRPr>
            </a:pPr>
            <a:r>
              <a:t>FK(q) = T_target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3240" y="5650992"/>
            <a:ext cx="352044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600" b="0">
                <a:solidFill>
                  <a:srgbClr val="15283C"/>
                </a:solidFill>
                <a:latin typeface="Liberation Sans"/>
              </a:defRPr>
            </a:pPr>
            <a:r>
              <a:t>IK ranking:  J = Σᵢ(qᵢ − qᵢ,current)²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181344"/>
            <a:ext cx="1097280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536678"/>
                </a:solidFill>
                <a:latin typeface="Liberation Sans"/>
              </a:defRPr>
            </a:pPr>
            <a:r>
              <a:t>q: six joint angles    T: tool position + orientation    |    Sources: M1, M3; image: I1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87F83"/>
                </a:solidFill>
                <a:latin typeface="Liberation Sans"/>
              </a:defRPr>
            </a:pPr>
            <a:r>
              <a:t>02 / PLANNING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24712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3100" b="1">
                <a:solidFill>
                  <a:srgbClr val="15283C"/>
                </a:solidFill>
                <a:latin typeface="Liberation Sans"/>
              </a:defRPr>
            </a:pPr>
            <a:r>
              <a:t>Two planning methods, one six-segment 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89888"/>
            <a:ext cx="1115568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700" b="0">
                <a:solidFill>
                  <a:srgbClr val="536678"/>
                </a:solidFill>
                <a:latin typeface="Liberation Sans"/>
              </a:defRPr>
            </a:pPr>
            <a:r>
              <a:t>Joint-space search for transfer; Cartesian interpolation for vertical contact motions.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83112" cy="10972"/>
          </a:xfrm>
          <a:prstGeom prst="rect">
            <a:avLst/>
          </a:prstGeom>
          <a:solidFill>
            <a:srgbClr val="D9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914400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536678"/>
                </a:solidFill>
                <a:latin typeface="Liberation Sans"/>
              </a:defRPr>
            </a:pPr>
            <a:r>
              <a:t>RIM_LOCATOR  /  MOTION PLANNING  /  03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28816"/>
            <a:ext cx="731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87F83"/>
                </a:solidFill>
                <a:latin typeface="Liberation Sans"/>
              </a:defRPr>
            </a:pPr>
            <a:r>
              <a:t>02 / 03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984248"/>
            <a:ext cx="6016752" cy="420624"/>
          </a:xfrm>
          <a:prstGeom prst="rect">
            <a:avLst/>
          </a:prstGeom>
          <a:solidFill>
            <a:srgbClr val="15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2103120"/>
            <a:ext cx="36118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FFFFF"/>
                </a:solidFill>
                <a:latin typeface="Liberation Sans"/>
              </a:defRPr>
            </a:pPr>
            <a:r>
              <a:t>SEGMENT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2103120"/>
            <a:ext cx="1828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FFFFF"/>
                </a:solidFill>
                <a:latin typeface="Liberation Sans"/>
              </a:defRPr>
            </a:pPr>
            <a:r>
              <a:t>METHOD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404872"/>
            <a:ext cx="601675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523744"/>
            <a:ext cx="274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87F83"/>
                </a:solidFill>
                <a:latin typeface="Liberation Sans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2523744"/>
            <a:ext cx="34655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600" b="0">
                <a:solidFill>
                  <a:srgbClr val="15283C"/>
                </a:solidFill>
                <a:latin typeface="Liberation Sans"/>
              </a:defRPr>
            </a:pPr>
            <a:r>
              <a:t>Approach: 10 cm above grasp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523744"/>
            <a:ext cx="18928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87F83"/>
                </a:solidFill>
                <a:latin typeface="Liberation Sans"/>
              </a:defRPr>
            </a:pPr>
            <a:r>
              <a:t>RRTConnect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862072"/>
            <a:ext cx="6016752" cy="457200"/>
          </a:xfrm>
          <a:prstGeom prst="rect">
            <a:avLst/>
          </a:prstGeom>
          <a:solidFill>
            <a:srgbClr val="ED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980944"/>
            <a:ext cx="274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87F83"/>
                </a:solidFill>
                <a:latin typeface="Liberation Sans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2980944"/>
            <a:ext cx="34655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600" b="0">
                <a:solidFill>
                  <a:srgbClr val="15283C"/>
                </a:solidFill>
                <a:latin typeface="Liberation Sans"/>
              </a:defRPr>
            </a:pPr>
            <a:r>
              <a:t>Descend to rim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2980944"/>
            <a:ext cx="18928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87F83"/>
                </a:solidFill>
                <a:latin typeface="Liberation Sans"/>
              </a:defRPr>
            </a:pPr>
            <a:r>
              <a:t>Cartesian 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319272"/>
            <a:ext cx="601675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438144"/>
            <a:ext cx="274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87F83"/>
                </a:solidFill>
                <a:latin typeface="Liberation Sans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3438144"/>
            <a:ext cx="34655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600" b="0">
                <a:solidFill>
                  <a:srgbClr val="15283C"/>
                </a:solidFill>
                <a:latin typeface="Liberation Sans"/>
              </a:defRPr>
            </a:pPr>
            <a:r>
              <a:t>Lift: +10 cm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4568" y="3438144"/>
            <a:ext cx="18928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87F83"/>
                </a:solidFill>
                <a:latin typeface="Liberation Sans"/>
              </a:defRPr>
            </a:pPr>
            <a:r>
              <a:t>Cartesian line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776472"/>
            <a:ext cx="6016752" cy="457200"/>
          </a:xfrm>
          <a:prstGeom prst="rect">
            <a:avLst/>
          </a:prstGeom>
          <a:solidFill>
            <a:srgbClr val="ED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3895344"/>
            <a:ext cx="274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87F83"/>
                </a:solidFill>
                <a:latin typeface="Liberation Sans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" y="3895344"/>
            <a:ext cx="34655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600" b="0">
                <a:solidFill>
                  <a:srgbClr val="15283C"/>
                </a:solidFill>
                <a:latin typeface="Liberation Sans"/>
              </a:defRPr>
            </a:pPr>
            <a:r>
              <a:t>Transfer to fixed ready pose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4568" y="3895344"/>
            <a:ext cx="18928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87F83"/>
                </a:solidFill>
                <a:latin typeface="Liberation Sans"/>
              </a:defRPr>
            </a:pPr>
            <a:r>
              <a:t>RRTConnect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233672"/>
            <a:ext cx="601675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4352544"/>
            <a:ext cx="274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87F83"/>
                </a:solidFill>
                <a:latin typeface="Liberation Sans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" y="4352544"/>
            <a:ext cx="34655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600" b="0">
                <a:solidFill>
                  <a:srgbClr val="15283C"/>
                </a:solidFill>
                <a:latin typeface="Liberation Sans"/>
              </a:defRPr>
            </a:pPr>
            <a:r>
              <a:t>Lower: −20 cm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44568" y="4352544"/>
            <a:ext cx="18928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87F83"/>
                </a:solidFill>
                <a:latin typeface="Liberation Sans"/>
              </a:defRPr>
            </a:pPr>
            <a:r>
              <a:t>Cartesian line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4690872"/>
            <a:ext cx="6016752" cy="457200"/>
          </a:xfrm>
          <a:prstGeom prst="rect">
            <a:avLst/>
          </a:prstGeom>
          <a:solidFill>
            <a:srgbClr val="ED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4809744"/>
            <a:ext cx="274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87F83"/>
                </a:solidFill>
                <a:latin typeface="Liberation Sans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" y="4809744"/>
            <a:ext cx="34655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600" b="0">
                <a:solidFill>
                  <a:srgbClr val="15283C"/>
                </a:solidFill>
                <a:latin typeface="Liberation Sans"/>
              </a:defRPr>
            </a:pPr>
            <a:r>
              <a:t>Return: +20 cm after release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44568" y="4809744"/>
            <a:ext cx="18928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87F83"/>
                </a:solidFill>
                <a:latin typeface="Liberation Sans"/>
              </a:defRPr>
            </a:pPr>
            <a:r>
              <a:t>Cartesian line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5367528"/>
            <a:ext cx="6016752" cy="713232"/>
          </a:xfrm>
          <a:prstGeom prst="roundRect">
            <a:avLst>
              <a:gd name="adj" fmla="val 10000"/>
            </a:avLst>
          </a:prstGeom>
          <a:solidFill>
            <a:srgbClr val="E8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4088" y="5504688"/>
            <a:ext cx="555955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700" b="0">
                <a:solidFill>
                  <a:srgbClr val="087F83"/>
                </a:solidFill>
                <a:latin typeface="Liberation Sans"/>
              </a:defRPr>
            </a:pPr>
            <a:r>
              <a:t>Close after descent. At the drop pose:</a:t>
            </a:r>
          </a:p>
          <a:p>
            <a:pPr>
              <a:spcAft>
                <a:spcPts val="200"/>
              </a:spcAft>
              <a:defRPr sz="1700" b="0">
                <a:solidFill>
                  <a:srgbClr val="087F83"/>
                </a:solidFill>
                <a:latin typeface="Liberation Sans"/>
              </a:defRPr>
            </a:pPr>
            <a:r>
              <a:t>wait stationary for 1 s, then open and return.</a:t>
            </a:r>
          </a:p>
        </p:txBody>
      </p:sp>
      <p:pic>
        <p:nvPicPr>
          <p:cNvPr id="38" name="Picture 37" descr="I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5999" y="1984248"/>
            <a:ext cx="3057753" cy="1911095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903720" y="3950208"/>
            <a:ext cx="47823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536678"/>
                </a:solidFill>
                <a:latin typeface="Liberation Sans"/>
              </a:defRPr>
            </a:pPr>
            <a:r>
              <a:t>Recorded green-bowl grasp · 27 Sep 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3720" y="4379976"/>
            <a:ext cx="475488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087F83"/>
                </a:solidFill>
                <a:latin typeface="Liberation Sans"/>
              </a:defRPr>
            </a:pPr>
            <a:r>
              <a:t>RRTConnect / OMPL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03720" y="4736592"/>
            <a:ext cx="475488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700" b="0">
                <a:solidFill>
                  <a:srgbClr val="15283C"/>
                </a:solidFill>
                <a:latin typeface="Liberation Sans"/>
              </a:defRPr>
            </a:pPr>
            <a:r>
              <a:t>Sample and grow trees from start and goal;</a:t>
            </a:r>
          </a:p>
          <a:p>
            <a:pPr>
              <a:spcAft>
                <a:spcPts val="200"/>
              </a:spcAft>
              <a:defRPr sz="1700" b="0">
                <a:solidFill>
                  <a:srgbClr val="15283C"/>
                </a:solidFill>
                <a:latin typeface="Liberation Sans"/>
              </a:defRPr>
            </a:pPr>
            <a:r>
              <a:t>connect valid states in six-joint space.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03720" y="5385816"/>
            <a:ext cx="475488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087F83"/>
                </a:solidFill>
                <a:latin typeface="Liberation Sans"/>
              </a:defRPr>
            </a:pPr>
            <a:r>
              <a:t>Cartesian interpolation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03720" y="5724144"/>
            <a:ext cx="475488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700" b="0">
                <a:solidFill>
                  <a:srgbClr val="15283C"/>
                </a:solidFill>
                <a:latin typeface="Liberation Sans"/>
              </a:defRPr>
            </a:pPr>
            <a:r>
              <a:t>Sample a tool-space line; solve IK along it.</a:t>
            </a:r>
          </a:p>
          <a:p>
            <a:pPr>
              <a:spcAft>
                <a:spcPts val="200"/>
              </a:spcAft>
              <a:defRPr sz="1700" b="0">
                <a:solidFill>
                  <a:srgbClr val="15283C"/>
                </a:solidFill>
                <a:latin typeface="Liberation Sans"/>
              </a:defRPr>
            </a:pPr>
            <a:r>
              <a:t>5 mm step; require 100% path completion.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208776"/>
            <a:ext cx="603504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536678"/>
                </a:solidFill>
                <a:latin typeface="Liberation Sans"/>
              </a:defRPr>
            </a:pPr>
            <a:r>
              <a:t>Sources: M1, M3, D2; original image: I2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87F83"/>
                </a:solidFill>
                <a:latin typeface="Liberation Sans"/>
              </a:defRPr>
            </a:pPr>
            <a:r>
              <a:t>03 / VALIDATION AND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24712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3100" b="1">
                <a:solidFill>
                  <a:srgbClr val="15283C"/>
                </a:solidFill>
                <a:latin typeface="Liberation Sans"/>
              </a:defRPr>
            </a:pPr>
            <a:r>
              <a:t>Validate the full motion before executing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89888"/>
            <a:ext cx="1115568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700" b="0">
                <a:solidFill>
                  <a:srgbClr val="536678"/>
                </a:solidFill>
                <a:latin typeface="Liberation Sans"/>
              </a:defRPr>
            </a:pPr>
            <a:r>
              <a:t>A candidate is executable only after all six segments pass the planning checks.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83112" cy="10972"/>
          </a:xfrm>
          <a:prstGeom prst="rect">
            <a:avLst/>
          </a:prstGeom>
          <a:solidFill>
            <a:srgbClr val="D9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914400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536678"/>
                </a:solidFill>
                <a:latin typeface="Liberation Sans"/>
              </a:defRPr>
            </a:pPr>
            <a:r>
              <a:t>RIM_LOCATOR  /  MOTION PLANNING  /  03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28816"/>
            <a:ext cx="731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87F83"/>
                </a:solidFill>
                <a:latin typeface="Liberation Sans"/>
              </a:defRPr>
            </a:pPr>
            <a:r>
              <a:t>03 / 03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984248"/>
            <a:ext cx="7370064" cy="420624"/>
          </a:xfrm>
          <a:prstGeom prst="rect">
            <a:avLst/>
          </a:prstGeom>
          <a:solidFill>
            <a:srgbClr val="15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2103120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FFFFF"/>
                </a:solidFill>
                <a:latin typeface="Liberation Sans"/>
              </a:defRPr>
            </a:pPr>
            <a:r>
              <a:t>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62072" y="2103120"/>
            <a:ext cx="46634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FFFFF"/>
                </a:solidFill>
                <a:latin typeface="Liberation Sans"/>
              </a:defRPr>
            </a:pPr>
            <a:r>
              <a:t>ACCEPTANCE RULE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404872"/>
            <a:ext cx="7370064" cy="466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2532888"/>
            <a:ext cx="2084831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87F83"/>
                </a:solidFill>
                <a:latin typeface="Liberation Sans"/>
              </a:defRPr>
            </a:pPr>
            <a:r>
              <a:t>Reachability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62072" y="2532888"/>
            <a:ext cx="48097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500" b="0">
                <a:solidFill>
                  <a:srgbClr val="15283C"/>
                </a:solidFill>
                <a:latin typeface="Liberation Sans"/>
              </a:defRPr>
            </a:pPr>
            <a:r>
              <a:t>Valid IK; target inside the workspace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871215"/>
            <a:ext cx="7370064" cy="466344"/>
          </a:xfrm>
          <a:prstGeom prst="rect">
            <a:avLst/>
          </a:prstGeom>
          <a:solidFill>
            <a:srgbClr val="ED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2999232"/>
            <a:ext cx="2084831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87F83"/>
                </a:solidFill>
                <a:latin typeface="Liberation Sans"/>
              </a:defRPr>
            </a:pPr>
            <a:r>
              <a:t>Sampled geometry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62072" y="2999232"/>
            <a:ext cx="48097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500" b="0">
                <a:solidFill>
                  <a:srgbClr val="15283C"/>
                </a:solidFill>
                <a:latin typeface="Liberation Sans"/>
              </a:defRPr>
            </a:pPr>
            <a:r>
              <a:t>Joint bounds; workspace; scene collision checks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337560"/>
            <a:ext cx="7370064" cy="466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3465576"/>
            <a:ext cx="2084831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87F83"/>
                </a:solidFill>
                <a:latin typeface="Liberation Sans"/>
              </a:defRPr>
            </a:pPr>
            <a:r>
              <a:t>Vertical motion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62072" y="3465576"/>
            <a:ext cx="48097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500" b="0">
                <a:solidFill>
                  <a:srgbClr val="15283C"/>
                </a:solidFill>
                <a:latin typeface="Liberation Sans"/>
              </a:defRPr>
            </a:pPr>
            <a:r>
              <a:t>Complete path; bounded joint steps and lateral drift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803904"/>
            <a:ext cx="7370064" cy="466344"/>
          </a:xfrm>
          <a:prstGeom prst="rect">
            <a:avLst/>
          </a:prstGeom>
          <a:solidFill>
            <a:srgbClr val="ED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3931920"/>
            <a:ext cx="2084831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87F83"/>
                </a:solidFill>
                <a:latin typeface="Liberation Sans"/>
              </a:defRPr>
            </a:pPr>
            <a:r>
              <a:t>Endpoint accuracy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62072" y="3931920"/>
            <a:ext cx="48097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500" b="0">
                <a:solidFill>
                  <a:srgbClr val="15283C"/>
                </a:solidFill>
                <a:latin typeface="Liberation Sans"/>
              </a:defRPr>
            </a:pPr>
            <a:r>
              <a:t>Position ≤ 2 mm; orientation ≤ 0.02 rad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270248"/>
            <a:ext cx="7370064" cy="466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4398264"/>
            <a:ext cx="2084831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87F83"/>
                </a:solidFill>
                <a:latin typeface="Liberation Sans"/>
              </a:defRPr>
            </a:pPr>
            <a:r>
              <a:t>Speed and timing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62072" y="4398264"/>
            <a:ext cx="48097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500" b="0">
                <a:solidFill>
                  <a:srgbClr val="15283C"/>
                </a:solidFill>
                <a:latin typeface="Liberation Sans"/>
              </a:defRPr>
            </a:pPr>
            <a:r>
              <a:t>Slow down to limits; reject if duration is excessive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736592"/>
            <a:ext cx="7370064" cy="466344"/>
          </a:xfrm>
          <a:prstGeom prst="rect">
            <a:avLst/>
          </a:prstGeom>
          <a:solidFill>
            <a:srgbClr val="ED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" y="4864607"/>
            <a:ext cx="2084831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87F83"/>
                </a:solidFill>
                <a:latin typeface="Liberation Sans"/>
              </a:defRPr>
            </a:pPr>
            <a:r>
              <a:t>Before each segment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62072" y="4864607"/>
            <a:ext cx="48097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500" b="0">
                <a:solidFill>
                  <a:srgbClr val="15283C"/>
                </a:solidFill>
                <a:latin typeface="Liberation Sans"/>
              </a:defRPr>
            </a:pPr>
            <a:r>
              <a:t>Start-state match; controller readiness; state recheck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74736" y="1984248"/>
            <a:ext cx="3511296" cy="32369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75904" y="2176272"/>
            <a:ext cx="309981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87F83"/>
                </a:solidFill>
                <a:latin typeface="Liberation Sans"/>
              </a:defRPr>
            </a:pPr>
            <a:r>
              <a:t>PRE-MOTION SELECTION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75904" y="2688336"/>
            <a:ext cx="3072384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2000" b="0">
                <a:solidFill>
                  <a:srgbClr val="15283C"/>
                </a:solidFill>
                <a:latin typeface="Liberation Sans"/>
              </a:defRPr>
            </a:pPr>
            <a:r>
              <a:t>Try another IK solution</a:t>
            </a:r>
          </a:p>
          <a:p>
            <a:pPr>
              <a:spcAft>
                <a:spcPts val="200"/>
              </a:spcAft>
              <a:defRPr sz="2000" b="0">
                <a:solidFill>
                  <a:srgbClr val="15283C"/>
                </a:solidFill>
                <a:latin typeface="Liberation Sans"/>
              </a:defRPr>
            </a:pPr>
            <a:r>
              <a:t>for the same grasp pose.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75904" y="3557016"/>
            <a:ext cx="3072384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800" b="0">
                <a:solidFill>
                  <a:srgbClr val="15283C"/>
                </a:solidFill>
                <a:latin typeface="Liberation Sans"/>
              </a:defRPr>
            </a:pPr>
            <a:r>
              <a:t>If full planning fails,</a:t>
            </a:r>
          </a:p>
          <a:p>
            <a:pPr>
              <a:spcAft>
                <a:spcPts val="200"/>
              </a:spcAft>
              <a:defRPr sz="1800" b="0">
                <a:solidFill>
                  <a:srgbClr val="15283C"/>
                </a:solidFill>
                <a:latin typeface="Liberation Sans"/>
              </a:defRPr>
            </a:pPr>
            <a:r>
              <a:t>try the next grasp candidate.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75904" y="4443984"/>
            <a:ext cx="3072384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087F83"/>
                </a:solidFill>
                <a:latin typeface="Liberation Sans"/>
              </a:defRPr>
            </a:pPr>
            <a:r>
              <a:t>Accept one complete plan</a:t>
            </a:r>
          </a:p>
          <a:p>
            <a:pPr>
              <a:spcAft>
                <a:spcPts val="200"/>
              </a:spcAft>
              <a:defRPr sz="1700" b="1">
                <a:solidFill>
                  <a:srgbClr val="087F83"/>
                </a:solidFill>
                <a:latin typeface="Liberation Sans"/>
              </a:defRPr>
            </a:pPr>
            <a:r>
              <a:t>before sending motion.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5449824"/>
            <a:ext cx="11183112" cy="630936"/>
          </a:xfrm>
          <a:prstGeom prst="roundRect">
            <a:avLst>
              <a:gd name="adj" fmla="val 10000"/>
            </a:avLst>
          </a:prstGeom>
          <a:solidFill>
            <a:srgbClr val="E8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8" y="5641848"/>
            <a:ext cx="11887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87F83"/>
                </a:solidFill>
                <a:latin typeface="Liberation Sans"/>
              </a:defRPr>
            </a:pPr>
            <a:r>
              <a:t>EXECUTE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11680" y="5641848"/>
            <a:ext cx="9418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700" b="0">
                <a:solidFill>
                  <a:srgbClr val="15283C"/>
                </a:solidFill>
                <a:latin typeface="Liberation Sans"/>
              </a:defRPr>
            </a:pPr>
            <a:r>
              <a:t>Timed joint trajectory  →  MoveIt ExecuteTrajectory  →  Robot trajectory controller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199632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536678"/>
                </a:solidFill>
                <a:latin typeface="Liberation Sans"/>
              </a:defRPr>
            </a:pPr>
            <a:r>
              <a:t>Sources: M1–M4  |  Values shown are configured acceptance tolerances.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Grasp Motion Planning: Principles and Validation</dc:title>
  <dc:subject>MoveIt 2, inverse kinematics, RRTConnect, Cartesian paths and trajectory validation</dc:subject>
  <dc:creator>Robot Grasp Project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