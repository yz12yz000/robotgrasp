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页｜项目定位与贡献</a:t>
            </a:r>
          </a:p>
          <a:p/>
          <a:p>
            <a:r>
              <a:t>这一页先说明 rim_locator 的边界：它是 ROS 2 中连接感知与运动规划的几何模块，不是 YOLO 模型，也不是机械臂驱动。上游负责分割和深度归属，它接收各实例的点云，并利用采集时刻的 TF 转入机器人基坐标系。输出除了位置，还包含四元数姿态和可解释的几何诊断。</a:t>
            </a:r>
          </a:p>
          <a:p/>
          <a:p>
            <a:r>
              <a:t>这里的 symbolic model 指基于碗沿、局部壁面、夹爪轴向和几何阈值的一组明确规则，不是语言模型或重新训练的抓取网络。右图是 9 月 27 日现场原始相机图，设备为 UR5e、双指夹爪和 RGB-D 相机，待抓物为绿色碗和浅色碗。今天汇报的重点是方法如何从单点定位扩展为可验证的抓放接口。</a:t>
            </a:r>
          </a:p>
          <a:p/>
          <a:p>
            <a:r>
              <a:t>资料依据：</a:t>
            </a:r>
          </a:p>
          <a:p>
            <a:r>
              <a:t>S1: docs/rim_locator_第一版设计说明.md</a:t>
            </a:r>
          </a:p>
          <a:p>
            <a:r>
              <a:t>S3: docs/demo_implementation_20260925.md</a:t>
            </a:r>
          </a:p>
          <a:p>
            <a:r>
              <a:t>S4: docs/live_demo_verification_20260927.md</a:t>
            </a:r>
          </a:p>
          <a:p>
            <a:r>
              <a:t>S5: src/rim_locator/rim_locator/rim_detection.py</a:t>
            </a:r>
          </a:p>
          <a:p>
            <a:r>
              <a:t>I1: debug_output/live_demo_20260927_gjgip1/initial_observation/rgb.png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页｜原方法与问题证据</a:t>
            </a:r>
          </a:p>
          <a:p/>
          <a:p>
            <a:r>
              <a:t>最初方法用 Z 的 98 分位数估计顶部，保留约 15 毫米高度带，在靠近基座的一侧选择局部点并取 XYZ 中位数，姿态由下游固定。对于较浅的碗，固定高度带容易包含碗壁，代表点可能偏低。</a:t>
            </a:r>
          </a:p>
          <a:p/>
          <a:p>
            <a:r>
              <a:t>图中展示的是随后加入单个壁面邻域拟合时保存的实际诊断图，而不是原始 XYZ 版本的成功率对比。一次记录中两个分割实例都正确，但绿色碗旧局部拟合倾角约 83.0°，浅色碗约 50.9°，都超过可接受范围。这个角度不等于真实碗口倾角，更可能反映邻域中混入过渡曲面或碗底。结论是不能只靠检测框和一个薄碗沿去声称接触方向可靠，需要给局部壁面提供证据。</a:t>
            </a:r>
          </a:p>
          <a:p/>
          <a:p>
            <a:r>
              <a:t>资料依据：</a:t>
            </a:r>
          </a:p>
          <a:p>
            <a:r>
              <a:t>S1: docs/rim_locator_第一版设计说明.md</a:t>
            </a:r>
          </a:p>
          <a:p>
            <a:r>
              <a:t>S2: docs/supported_rim_contacts_20260923.md</a:t>
            </a:r>
          </a:p>
          <a:p>
            <a:r>
              <a:t>I2: debug_output/rim_geometry_20260923/frame01/geometry_before.png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页｜几何规则与姿态构造</a:t>
            </a:r>
          </a:p>
          <a:p/>
          <a:p>
            <a:r>
              <a:t>先在每个实例内部用连通性过滤去除明显离群点，再按稳健高度跨度自适应确定 6 到 12 毫米的半带宽。当前代码在第 98 分位高度上下各保留这个带宽，不是简单取最大高度。锚点取局部较高部分的中位数。</a:t>
            </a:r>
          </a:p>
          <a:p/>
          <a:p>
            <a:r>
              <a:t>原接触区域不足时，在真实观测到的顶部点带中进行有上限的搜索，间距 8 毫米，最多追加 96 个搜索区域。对每个区域尝试三种半径；至少两个尺度有新增点支持、法向相差不超过 12°才通过。还检查点数、纵向跨度、平面残差和锚点到平面的距离。法向缺失时拒绝，不编造竖直法向。</a:t>
            </a:r>
          </a:p>
          <a:p/>
          <a:p>
            <a:r>
              <a:t>姿态约定必须讲清：两指开合对应工具 Y 轴，工具 Z 向下，X 轴由右手系补齐。算法支持限制工具倾角，但当前演示配置 max_tool_tilt_deg=0，所以实机主要使用壁面水平投影确定夹合方向，工具保持竖直。图是早期采集的接触投影，只展示位置，不代表当前实机使用了对应的自由倾斜姿态。</a:t>
            </a:r>
          </a:p>
          <a:p/>
          <a:p>
            <a:r>
              <a:t>资料依据：</a:t>
            </a:r>
          </a:p>
          <a:p>
            <a:r>
              <a:t>S2: docs/supported_rim_contacts_20260923.md</a:t>
            </a:r>
          </a:p>
          <a:p>
            <a:r>
              <a:t>S5: src/rim_locator/rim_locator/rim_detection.py</a:t>
            </a:r>
          </a:p>
          <a:p>
            <a:r>
              <a:t>S6: src/rim_locator/config/place_config.json</a:t>
            </a:r>
          </a:p>
          <a:p>
            <a:r>
              <a:t>S10: docs/planning_diagnosis_20260923.md</a:t>
            </a:r>
          </a:p>
          <a:p>
            <a:r>
              <a:t>I3: debug_output/rim_geometry_20260923/frame01/contacts_detail.png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页｜主要功能扩展与模块改动</a:t>
            </a:r>
          </a:p>
          <a:p/>
          <a:p>
            <a:r>
              <a:t>这一页区分项目演进与早期对话方案：9 月 25 日版本已经从每碗单候选扩展到最多 8 个，按原几何搜索顺序保留，间距至少 4 毫米，没有新建综合评分器。rim_detection.py 负责候选；新增 candidate_protocol.py 校验分组协议；main.py 和 pointcloud.py 保留实例归属、原采集时间及诊断。原 PoseArray 仍只为每碗提供首选位姿，多候选通过 grasp_candidates 的版本化 JSON 传递。</a:t>
            </a:r>
          </a:p>
          <a:p/>
          <a:p>
            <a:r>
              <a:t>执行器只在尚未动作时允许换候选，整个六段路径必须先规划通过。实际执行每轮选择最近一只碗：接近、张开、下降、闭合、抬升、转移至固定准备位、沿基座 Z 下降 20 厘米、到位等待 1 秒、释放、抬升返回。当前接近与抬升高度是 10 厘米，不是早期的 15 厘米。</a:t>
            </a:r>
          </a:p>
          <a:p/>
          <a:p>
            <a:r>
              <a:t>完成后重新采集，再确定剩余物体；不把旧坐标或 YOLO ID 当跨帧身份。任务预算、命名空间、日志和运行器存活监督由 tools/test_live_place_pipeline.py 及执行器实现。桌面和额外夹爪保护盒已移除；原有机器人自碰撞与轨迹检查仍保留。</a:t>
            </a:r>
          </a:p>
          <a:p/>
          <a:p>
            <a:r>
              <a:t>资料依据：</a:t>
            </a:r>
          </a:p>
          <a:p>
            <a:r>
              <a:t>S3: docs/demo_implementation_20260925.md</a:t>
            </a:r>
          </a:p>
          <a:p>
            <a:r>
              <a:t>S4: docs/live_demo_verification_20260927.md</a:t>
            </a:r>
          </a:p>
          <a:p>
            <a:r>
              <a:t>S6: src/rim_locator/config/place_config.json</a:t>
            </a:r>
          </a:p>
          <a:p>
            <a:r>
              <a:t>S12: src/grasp_executor/config/place_config.json</a:t>
            </a:r>
          </a:p>
          <a:p>
            <a:r>
              <a:t>I4: debug_output/live_demo_20260927_gjgip1/lift_02.png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页｜定位实验与软件验证</a:t>
            </a:r>
          </a:p>
          <a:p/>
          <a:p>
            <a:r>
              <a:t>表格数字直接读取三份 localization.json，而不是从报告中手工估算。三次观测都为两个碗生成了有效位置，共六次定位接受。绿色碗估计法向倾角约 8.82 到 13.82 度，浅色碗约 31.89 到 37.37 度。它们是可见局部壁面的拟合量，不是独立标定的真实壁角，不能据此声称角度误差。</a:t>
            </a:r>
          </a:p>
          <a:p/>
          <a:p>
            <a:r>
              <a:t>六个局部拟合残差约 0.46 到 0.74 毫米，只说明所选点接近平面，不是系统定位精度，也不是抓取成功率。样本量仅三次观测，不报告泛化统计。右侧为同批次真实接触投影原图。</a:t>
            </a:r>
          </a:p>
          <a:p/>
          <a:p>
            <a:r>
              <a:t>下面三组数字来自不同日期和验证层级：9 月 27 日有 503 项回归通过，另 7 个可选启动测试单独通过；9 月 25 日有 15 项真实 MoveIt 配合模拟控制器检查，以及 26 项历史点云回放检查。它们不能相加为一次实验规模，也不等同于 503 次真实抓取。当前制作 PPT 没有重新启动机器人或重新跑硬件实验。</a:t>
            </a:r>
          </a:p>
          <a:p/>
          <a:p>
            <a:r>
              <a:t>资料依据：</a:t>
            </a:r>
          </a:p>
          <a:p>
            <a:r>
              <a:t>F1: debug_output/rim_geometry_20260923/frame01/localization.json</a:t>
            </a:r>
          </a:p>
          <a:p>
            <a:r>
              <a:t>F2: debug_output/rim_geometry_20260923/frame02/localization.json</a:t>
            </a:r>
          </a:p>
          <a:p>
            <a:r>
              <a:t>F3: debug_output/rim_geometry_20260923/frame03/localization.json</a:t>
            </a:r>
          </a:p>
          <a:p>
            <a:r>
              <a:t>S2: docs/supported_rim_contacts_20260923.md</a:t>
            </a:r>
          </a:p>
          <a:p>
            <a:r>
              <a:t>S7: debug_output/demo_implementation_20260925/verification_summary.json</a:t>
            </a:r>
          </a:p>
          <a:p>
            <a:r>
              <a:t>S8: debug_output/live_demo_20260927_gjgip1/live_verification_summary.json</a:t>
            </a:r>
          </a:p>
          <a:p>
            <a:r>
              <a:t>S11: debug_output/demo_implementation_20260925/moveit/result.json</a:t>
            </a:r>
          </a:p>
          <a:p>
            <a:r>
              <a:t>I3: debug_output/rim_geometry_20260923/frame01/contacts_detail.png</a:t>
            </a:r>
          </a:p>
          <a:p>
            <a:r>
              <a:t>I7: debug_output/rim_geometry_20260923/frame03/contacts_detail.png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页｜实机结果与下一步</a:t>
            </a:r>
          </a:p>
          <a:p/>
          <a:p>
            <a:r>
              <a:t>最后用现场原图和日志共同说明可行性。9 月 27 日的这组有完整记录的案例里，白碗确实被带起并放到左侧，但运行器异常结束，退回阶段被取消，因此不能计为完整流程成功。随后补上运行器身份监督与信号清理，再对剩余绿色碗采集新观测：生成 5 个候选，candidate 0 通过完整六段规划，实机完成抓取、转移、下降、释放和退回。下一轮新采集在取物 ROI 内检测到零目标，任务正常结束。</a:t>
            </a:r>
          </a:p>
          <a:p/>
          <a:p>
            <a:r>
              <a:t>这里只报告该案例修复后的一次完整成功，不把它说成整个项目只有一次动作，也不把白碗、其它手动会话和重复测试拼成成功率。目录中还存在控制器准备失败、过期反馈、取消和 remaining_unknown 等记录，场景与版本不统一，不能直接算总体成功率。空台面照片本身也不能单独证明抓稳和放稳。</a:t>
            </a:r>
          </a:p>
          <a:p/>
          <a:p>
            <a:r>
              <a:t>系统仍没有物体层面的传感反馈，日志明确保留 grasp_verified=false 和 placement_verified=false。现场可行候选都是 candidate 0，候选切换的硬件分支尚未在本案例中验证。下一步建议固定实验协议，跨碗型、位置和遮挡重复，分别统计检测接受、规划通过、实际抓起与稳定放置，并补充成功反馈。</a:t>
            </a:r>
          </a:p>
          <a:p/>
          <a:p>
            <a:r>
              <a:t>资料依据：</a:t>
            </a:r>
          </a:p>
          <a:p>
            <a:r>
              <a:t>S4: docs/live_demo_verification_20260927.md</a:t>
            </a:r>
          </a:p>
          <a:p>
            <a:r>
              <a:t>S8: debug_output/live_demo_20260927_gjgip1/live_verification_summary.json</a:t>
            </a:r>
          </a:p>
          <a:p>
            <a:r>
              <a:t>S9: debug_output/live_demo_20260927_gjgip1/execute_02_after_fix/result.json</a:t>
            </a:r>
          </a:p>
          <a:p>
            <a:r>
              <a:t>I1: debug_output/live_demo_20260927_gjgip1/initial_observation/rgb.png</a:t>
            </a:r>
          </a:p>
          <a:p>
            <a:r>
              <a:t>I4: debug_output/live_demo_20260927_gjgip1/lift_02.png</a:t>
            </a:r>
          </a:p>
          <a:p>
            <a:r>
              <a:t>I5: debug_output/live_demo_20260927_gjgip1/final_scene.png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SCOPE &amp;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Rim-Guided Bowl Grasping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From a segmented point cloud to an executable grasp 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RESEARCH PROGRESS  /  02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87F83"/>
                </a:solidFill>
                <a:latin typeface="Liberation Sans"/>
              </a:defRPr>
            </a:pPr>
            <a:r>
              <a:t>01 / 06</a:t>
            </a:r>
          </a:p>
        </p:txBody>
      </p:sp>
      <p:pic>
        <p:nvPicPr>
          <p:cNvPr id="9" name="Picture 8" descr="I1.png"/>
          <p:cNvPicPr>
            <a:picLocks noChangeAspect="1"/>
          </p:cNvPicPr>
          <p:nvPr/>
        </p:nvPicPr>
        <p:blipFill>
          <a:blip r:embed="rId2"/>
          <a:srcRect t="1314" b="1314"/>
          <a:stretch>
            <a:fillRect/>
          </a:stretch>
        </p:blipFill>
        <p:spPr>
          <a:xfrm>
            <a:off x="5074920" y="1901952"/>
            <a:ext cx="6611112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911095"/>
            <a:ext cx="4224528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37307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Instance-labelled RGB-D points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+ acquisition-time robot 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19272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CORE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66744"/>
            <a:ext cx="37307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A lightweight, geometry-based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symbolic model of rim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98848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37307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XYZ + orientation + diagnostics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for downstream MoveIt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Sources: S1, S3, S4, S5  |  Original lab image: I1 (27 Sep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MOTIVATION &amp;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A detected bowl is not yet a supported grasp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The original height-band method was simple, but local wall evidence could fail.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RESEARCH PROGRESS  /  02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87F83"/>
                </a:solidFill>
                <a:latin typeface="Liberation Sans"/>
              </a:defRPr>
            </a:pPr>
            <a:r>
              <a:t>02 / 06</a:t>
            </a:r>
          </a:p>
        </p:txBody>
      </p:sp>
      <p:pic>
        <p:nvPicPr>
          <p:cNvPr id="9" name="Picture 8" descr="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70772"/>
            <a:ext cx="7315200" cy="34650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5778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36678"/>
                </a:solidFill>
                <a:latin typeface="Liberation Sans"/>
              </a:defRPr>
            </a:pPr>
            <a:r>
              <a:t>Recorded single-patch diagnostic: rim points in red; wall support in orange.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1920240"/>
            <a:ext cx="3575304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2121408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ORIGINAL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468879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98th-percentile height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15 mm top band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Near-side median → XYZ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621024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OBSERVED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968496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Two masks detected;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both wall fits rejected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in one recorded snapshot.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5239512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A36416"/>
                </a:solidFill>
                <a:latin typeface="Liberation Sans"/>
              </a:defRPr>
            </a:pPr>
            <a:r>
              <a:t>Segmentation alone cannot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A36416"/>
                </a:solidFill>
                <a:latin typeface="Liberation Sans"/>
              </a:defRPr>
            </a:pPr>
            <a:r>
              <a:t>validate a rim contact.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Sources: S1, S2  |  Original point-cloud diagnostic: I2 (23 Sep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GEOMETRY &amp; POSE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Accept contacts only when the wall supports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Same geometric rules for both bowls; no colour-specific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RESEARCH PROGRESS  /  02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87F83"/>
                </a:solidFill>
                <a:latin typeface="Liberation Sans"/>
              </a:defRPr>
            </a:pPr>
            <a:r>
              <a:t>03 / 06</a:t>
            </a:r>
          </a:p>
        </p:txBody>
      </p:sp>
      <p:pic>
        <p:nvPicPr>
          <p:cNvPr id="9" name="Picture 8" descr="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920877"/>
            <a:ext cx="2907792" cy="39672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925312"/>
            <a:ext cx="3017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536678"/>
                </a:solidFill>
                <a:latin typeface="Liberation Sans"/>
              </a:defRPr>
            </a:pPr>
            <a:r>
              <a:t>Projected contacts on a real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7534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01  ADAPT THE RIM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86000"/>
            <a:ext cx="753465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b = clip(0.20 × H, 6, 12) mm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H: robust height span (mm); upper-band anchor.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81528"/>
            <a:ext cx="7534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02  VERIFY THE LOCAL 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429000"/>
            <a:ext cx="753465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Fit at 12.5 / 18.75 / 25 mm radii.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Require agreement at two supported scales.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133087"/>
            <a:ext cx="749807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≥20 points   •   ≥6 mm height span   •   ≤2.5 mm fit residual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626864"/>
            <a:ext cx="7534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03  BUILD THE TOOL 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974336"/>
            <a:ext cx="753465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Tool Y: closing direction. Tool Z: downward.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15283C"/>
                </a:solidFill>
                <a:latin typeface="Liberation Sans"/>
              </a:defRPr>
            </a:pPr>
            <a:r>
              <a:t>Quaternion for control; RPY for inspection.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5623560"/>
            <a:ext cx="7863840" cy="384048"/>
          </a:xfrm>
          <a:prstGeom prst="roundRect">
            <a:avLst>
              <a:gd name="adj" fmla="val 12000"/>
            </a:avLst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1063" y="5687568"/>
            <a:ext cx="7543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87F83"/>
                </a:solidFill>
                <a:latin typeface="Liberation Sans"/>
              </a:defRPr>
            </a:pPr>
            <a:r>
              <a:t>Current demo: tool tilt capped at 0°; measured wall tilt is logged separately.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Sources: S2, S5, S6, S10  |  Original projected-contact image: I3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IMPLEMENTED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From a rim point to a complete pick-and-place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Geometry stays in rim_locator; orchestration and motion remain separate.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RESEARCH PROGRESS  /  02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87F83"/>
                </a:solidFill>
                <a:latin typeface="Liberation Sans"/>
              </a:defRPr>
            </a:pPr>
            <a:r>
              <a:t>04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641908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4825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rim_locator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68296"/>
            <a:ext cx="600760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Up to 8 poses per bowl; 4 mm separation.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Versioned groups + per-candidate diagnostics.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44952"/>
            <a:ext cx="641908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15468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ROS interfaces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474720"/>
            <a:ext cx="600760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Preserve instance IDs, source time and TF.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Keep PointStamped / PoseArray compatibility.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51376"/>
            <a:ext cx="641908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261104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Execution &amp; supervision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581144"/>
            <a:ext cx="600760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Try alternatives before any motion.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Re-observe after release and return; stop on execution failure.</a:t>
            </a:r>
          </a:p>
        </p:txBody>
      </p:sp>
      <p:pic>
        <p:nvPicPr>
          <p:cNvPr id="18" name="Picture 17" descr="I4.png"/>
          <p:cNvPicPr>
            <a:picLocks noChangeAspect="1"/>
          </p:cNvPicPr>
          <p:nvPr/>
        </p:nvPicPr>
        <p:blipFill>
          <a:blip r:embed="rId2"/>
          <a:srcRect l="7812" r="7812"/>
          <a:stretch>
            <a:fillRect/>
          </a:stretch>
        </p:blipFill>
        <p:spPr>
          <a:xfrm>
            <a:off x="7242048" y="1938528"/>
            <a:ext cx="4443984" cy="3291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78624" y="5312664"/>
            <a:ext cx="4389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36678"/>
                </a:solidFill>
                <a:latin typeface="Liberation Sans"/>
              </a:defRPr>
            </a:pPr>
            <a:r>
              <a:t>Original green-bowl grasp image • 27 Sep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86400"/>
            <a:ext cx="6419088" cy="530352"/>
          </a:xfrm>
          <a:prstGeom prst="roundRect">
            <a:avLst>
              <a:gd name="adj" fmla="val 12000"/>
            </a:avLst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5641848"/>
            <a:ext cx="60807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10 cm approach/lift   |   20 cm placement drop   |   1 s dwell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605272"/>
            <a:ext cx="42976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283C"/>
                </a:solidFill>
                <a:latin typeface="Liberation Sans"/>
              </a:defRPr>
            </a:pPr>
            <a:r>
              <a:t>Fixed placement pose;</a:t>
            </a:r>
          </a:p>
          <a:p>
            <a:pPr algn="l">
              <a:spcAft>
                <a:spcPts val="500"/>
              </a:spcAft>
              <a:defRPr sz="1400" b="1">
                <a:solidFill>
                  <a:srgbClr val="15283C"/>
                </a:solidFill>
                <a:latin typeface="Liberation Sans"/>
              </a:defRPr>
            </a:pPr>
            <a:r>
              <a:t>nearest bowl first in each new observation.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Sources: S3, S4, S6, S12  |  Original image: I4  |  Candidate fallback is pre-motion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PERCEPTION &amp; SOFTWARE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Real captures support the geometric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Three recorded two-bowl observations; replay results are not a grasp success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RESEARCH PROGRESS  /  02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87F83"/>
                </a:solidFill>
                <a:latin typeface="Liberation Sans"/>
              </a:defRPr>
            </a:pPr>
            <a:r>
              <a:t>05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75104"/>
            <a:ext cx="932688" cy="448056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9397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35608" y="1975104"/>
            <a:ext cx="1444752" cy="448056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5336" y="2093976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Accepted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975104"/>
            <a:ext cx="1600200" cy="448056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9397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Green tilt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1975104"/>
            <a:ext cx="1664208" cy="448056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093976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Light tilt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975104"/>
            <a:ext cx="1581912" cy="448056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93976"/>
            <a:ext cx="1399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Residual*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23160"/>
            <a:ext cx="93268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587752"/>
            <a:ext cx="7680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5608" y="2423160"/>
            <a:ext cx="144475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45336" y="25877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283C"/>
                </a:solidFill>
                <a:latin typeface="Liberation Sans"/>
              </a:defRPr>
            </a:pPr>
            <a:r>
              <a:t>2 /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42316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2587752"/>
            <a:ext cx="14356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11.73°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2423160"/>
            <a:ext cx="166420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5877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31.89°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2423160"/>
            <a:ext cx="15819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2587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0.55–0.61 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90088"/>
            <a:ext cx="932688" cy="566928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154680"/>
            <a:ext cx="7680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35608" y="2990088"/>
            <a:ext cx="1444752" cy="566928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45336" y="31546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283C"/>
                </a:solidFill>
                <a:latin typeface="Liberation Sans"/>
              </a:defRPr>
            </a:pPr>
            <a:r>
              <a:t>2 /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2990088"/>
            <a:ext cx="1600200" cy="566928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3154680"/>
            <a:ext cx="14356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13.82°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2990088"/>
            <a:ext cx="1664208" cy="566928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15468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36.80°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2990088"/>
            <a:ext cx="1581912" cy="566928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315468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0.60–0.62 mm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557016"/>
            <a:ext cx="93268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3721608"/>
            <a:ext cx="7680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35608" y="3557016"/>
            <a:ext cx="144475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45336" y="3721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283C"/>
                </a:solidFill>
                <a:latin typeface="Liberation Sans"/>
              </a:defRPr>
            </a:pPr>
            <a:r>
              <a:t>2 /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3557016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0088" y="3721608"/>
            <a:ext cx="14356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8.82°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59" y="3557016"/>
            <a:ext cx="166420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0288" y="372160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37.37°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3557016"/>
            <a:ext cx="158191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4496" y="372160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0.46–0.74 mm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261104"/>
            <a:ext cx="72694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36678"/>
                </a:solidFill>
                <a:latin typeface="Liberation Sans"/>
              </a:defRPr>
            </a:pPr>
            <a:r>
              <a:t>* Local plane-fit residual, not independently measured localization accuracy.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818888"/>
            <a:ext cx="21031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087F83"/>
                </a:solidFill>
                <a:latin typeface="Liberation Sans"/>
              </a:defRPr>
            </a:pPr>
            <a:r>
              <a:t>503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468112"/>
            <a:ext cx="22402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Regression tests passed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27 Sep record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3512" y="4818888"/>
            <a:ext cx="21031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087F83"/>
                </a:solidFill>
                <a:latin typeface="Liberation Sans"/>
              </a:defRPr>
            </a:pPr>
            <a: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53512" y="5468112"/>
            <a:ext cx="22402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MoveIt integration checks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25 Sep; simulated 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4104" y="4818888"/>
            <a:ext cx="21031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087F83"/>
                </a:solidFill>
                <a:latin typeface="Liberation Sans"/>
              </a:defRPr>
            </a:pPr>
            <a:r>
              <a:t>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4104" y="5468112"/>
            <a:ext cx="22402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Historical replay checks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25 Sep record</a:t>
            </a:r>
          </a:p>
        </p:txBody>
      </p:sp>
      <p:pic>
        <p:nvPicPr>
          <p:cNvPr id="56" name="Picture 55" descr="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35335"/>
            <a:ext cx="1536192" cy="2095889"/>
          </a:xfrm>
          <a:prstGeom prst="rect">
            <a:avLst/>
          </a:prstGeom>
        </p:spPr>
      </p:pic>
      <p:pic>
        <p:nvPicPr>
          <p:cNvPr id="57" name="Picture 56" descr="I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2337487"/>
            <a:ext cx="1536192" cy="209158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302752" y="5020056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36678"/>
                </a:solidFill>
                <a:latin typeface="Liberation Sans"/>
              </a:defRPr>
            </a:pPr>
            <a:r>
              <a:t>Original contact projections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536678"/>
                </a:solidFill>
                <a:latin typeface="Liberation Sans"/>
              </a:defRPr>
            </a:pPr>
            <a:r>
              <a:t>Capture 01 / Capture 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7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Sources: F1–F3, S2, S7, S8, S11  |  Original images: I3, I7  |  All test counts are dated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HARDWARE EVIDENCE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5283C"/>
                </a:solidFill>
                <a:latin typeface="Liberation Sans"/>
              </a:defRPr>
            </a:pPr>
            <a:r>
              <a:t>One complete cycle; reliability remains to be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36678"/>
                </a:solidFill>
                <a:latin typeface="Liberation Sans"/>
              </a:defRPr>
            </a:pPr>
            <a:r>
              <a:t>Documented case study: 27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RESEARCH PROGRESS  /  02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87F83"/>
                </a:solidFill>
                <a:latin typeface="Liberation Sans"/>
              </a:defRPr>
            </a:pPr>
            <a:r>
              <a:t>06 / 06</a:t>
            </a:r>
          </a:p>
        </p:txBody>
      </p:sp>
      <p:pic>
        <p:nvPicPr>
          <p:cNvPr id="9" name="Picture 8" descr="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" y="1892807"/>
            <a:ext cx="3555187" cy="2221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242816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283C"/>
                </a:solidFill>
                <a:latin typeface="Liberation Sans"/>
              </a:defRPr>
            </a:pPr>
            <a:r>
              <a:t>Initial source scene</a:t>
            </a:r>
          </a:p>
        </p:txBody>
      </p:sp>
      <p:pic>
        <p:nvPicPr>
          <p:cNvPr id="11" name="Picture 10" descr="I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454" y="1892807"/>
            <a:ext cx="3555187" cy="2221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15968" y="4242816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283C"/>
                </a:solidFill>
                <a:latin typeface="Liberation Sans"/>
              </a:defRPr>
            </a:pPr>
            <a:r>
              <a:t>Green-bowl grasp</a:t>
            </a:r>
          </a:p>
        </p:txBody>
      </p:sp>
      <p:pic>
        <p:nvPicPr>
          <p:cNvPr id="13" name="Picture 12" descr="I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358" y="1892807"/>
            <a:ext cx="3555187" cy="2221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19872" y="4242816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283C"/>
                </a:solidFill>
                <a:latin typeface="Liberation Sans"/>
              </a:defRPr>
            </a:pPr>
            <a:r>
              <a:t>Final source scene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09160"/>
            <a:ext cx="5559552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83717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87F83"/>
                </a:solidFill>
                <a:latin typeface="Liberation Sans"/>
              </a:defRPr>
            </a:pPr>
            <a:r>
              <a:t>AUDITED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239512"/>
            <a:ext cx="50840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Green: 1 complete cycle + fresh empty-ROI observation.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White: lifted/placed; retreat cancelled → incomplete.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4709160"/>
            <a:ext cx="5394960" cy="1261872"/>
          </a:xfrm>
          <a:prstGeom prst="roundRect">
            <a:avLst>
              <a:gd name="adj" fmla="val 12000"/>
            </a:avLst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3717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87F83"/>
                </a:solidFill>
                <a:latin typeface="Liberation Sans"/>
              </a:defRPr>
            </a:pPr>
            <a:r>
              <a:t>NEXT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39512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Controlled repeats across bowls and poses.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Measure physical success; add grasp/release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Sources: S4, S8, S9  |  Original images: I1, I4, I5  |  No overall physical success rate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Rim-Guided Bowl Grasping — Research Progress</dc:title>
  <dc:subject>rim_locator: geometric contact support, pose generation, integration and experimental evidence</dc:subject>
  <dc:creator>Robot Grasp Project</dc:creator>
  <cp:keywords>rim_locator, ROS 2, bowl grasping, geometry, Chinese speaker notes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