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 页：RGB-D–Guided Bowl Grasping and Placement with a UR5e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本项目利用 RGB-D 相机识别桌面上的碗，根据碗沿局部几何生成抓取姿态，再由 UR5e 完成抓取与固定位置放置。今天重点汇报从单点抓取发展到同碗多候选和逐次重新观察的过程，并用白碗、绿碗的原始结果说明实际进展。所有实验图片来自项目记录，离线测试和现场运动会明确区分。本报告不是总体成功率统计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docs/README.md</a:t>
            </a:r>
          </a:p>
          <a:p>
            <a:pPr>
              <a:defRPr sz="1200">
                <a:latin typeface="Noto Sans CJK SC"/>
              </a:defRPr>
            </a:pPr>
            <a:r>
              <a:t>docs/live_demo_verification_20260927.md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debug_output/live_demo_20260927_gjgip1/initial_observation/rgb.png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2 页：A defined tabletop task, with separate pick and place regions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任务是在固定相机与机器人基座条件下，从指定取物区域内选择碗，夹持碗沿，并搬到保存好的放置位姿。图中的取物框对应 9 月 27 日现场 ROI，放置标记表示固定参考位置的近似图像投影，不表示已测量的容器边界。两区必须分开，否则下一轮可能重新识别刚放下的碗。当前系统不加载桌面或额外夹爪保护盒，仍保留机器人 URDF 自碰撞和轨迹约束。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docs/live_demo_verification_20260927.md</a:t>
            </a:r>
          </a:p>
          <a:p>
            <a:pPr>
              <a:defRPr sz="1200">
                <a:latin typeface="Noto Sans CJK SC"/>
              </a:defRPr>
            </a:pPr>
            <a:r>
              <a:t>src/yolo_vision/config/live_pick_roi_20260927.json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debug_output/live_demo_20260927_gjgip1/initial_observation/rgb.png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3 页：What changed from the initial grasping pipeline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系统继续使用 yolo_vision、rim_locator 和 grasp_executor 三个包。主要改动是从单目标点云扩展到逐实例数据，从一个首选接触点扩展到多个有几何依据的候选，并把抓取扩展为完整六段抓放。运行器负责每次只执行一只碗，完成后重新观察。除此之外，还增加了配置快照、任务隔离、进程监督和可重复测试。使用的是已有分割模型，没有声称训练了新的抓取神经网络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docs/README.md</a:t>
            </a:r>
          </a:p>
          <a:p>
            <a:pPr>
              <a:defRPr sz="1200">
                <a:latin typeface="Noto Sans CJK SC"/>
              </a:defRPr>
            </a:pPr>
            <a:r>
              <a:t>docs/demo_implementation_20260925.md</a:t>
            </a:r>
          </a:p>
          <a:p>
            <a:pPr>
              <a:defRPr sz="1200">
                <a:latin typeface="Noto Sans CJK SC"/>
              </a:defRPr>
            </a:pPr>
            <a:r>
              <a:t>docs/planning_diagnosis_20260923.md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4 页：Two bowls are segmented and reconstructed independently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这是同一帧真实双碗观测。白碗和绿碗共享类别 bowl，但拥有不同的观测内编号、分割掩膜和三维点集合。白碗有少量无效深度，绿碗在该帧掩膜内深度全部有效。程序保留原始采集时间，并避免掩膜重叠造成同一个像素分给两个物体。这里的置信度与有效深度比例只代表本帧，不代表整个系统的检测率。颜色名称仅用于向观众说明，不是算法分支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debug_output/live_demo_20260927_gjgip1/plan_01/round_0001/result.json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debug_output/live_demo_20260927_gjgip1/plan_01/round_0001/detection_overlay.png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5 页：White and green bowls offer different wall evidence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双碗试验的价值不仅是目标数量增加，也在于局部壁面和深度分布不同。这里展示的是 9 月 23 日的一次实际观测，绿色碗选中局部壁面的倾角约 11.7 度，白色碗约 31.9 度。这些角度是该次接触区域的拟合结果，不是每只碗固定不变的材料或形状参数。当前正式配置将工具倾角限制为零，即工具仍竖直接近，壁面几何提供接触位置及水平夹合方向。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debug_output/rim_geometry_20260923/frame01/localization.json</a:t>
            </a:r>
          </a:p>
          <a:p>
            <a:pPr>
              <a:defRPr sz="1200">
                <a:latin typeface="Noto Sans CJK SC"/>
              </a:defRPr>
            </a:pPr>
            <a:r>
              <a:t>docs/supported_rim_contacts_20260923.md</a:t>
            </a:r>
          </a:p>
          <a:p>
            <a:pPr>
              <a:defRPr sz="1200">
                <a:latin typeface="Noto Sans CJK SC"/>
              </a:defRPr>
            </a:pPr>
            <a:r>
              <a:t>debug_output/rim_geometry_20260923/frame01/contacts.png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6 页：Both bowls were localized in three recorded observations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旧方法只在一个近侧锚点和固定邻域拟合壁面，容易受遮挡、弧面或碗底污染影响。改进后在顶部点带搜索其他接触区域，并要求不同尺度下的法向一致。三份独立现场观测都检测到两只碗，也都为两只生成了定位结果。表格展示局部壁面支持点数和倾角。六次拟合的残差约为 0.46 到 0.74 毫米，这只是拟合质量，不能作为绝对定位精度或实际抓取成功率。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docs/supported_rim_contacts_20260923.md</a:t>
            </a:r>
          </a:p>
          <a:p>
            <a:pPr>
              <a:defRPr sz="1200">
                <a:latin typeface="Noto Sans CJK SC"/>
              </a:defRPr>
            </a:pPr>
            <a:r>
              <a:t>debug_output/rim_geometry_20260923/frame01/localization.json</a:t>
            </a:r>
          </a:p>
          <a:p>
            <a:pPr>
              <a:defRPr sz="1200">
                <a:latin typeface="Noto Sans CJK SC"/>
              </a:defRPr>
            </a:pPr>
            <a:r>
              <a:t>debug_output/rim_geometry_20260923/frame02/localization.json</a:t>
            </a:r>
          </a:p>
          <a:p>
            <a:pPr>
              <a:defRPr sz="1200">
                <a:latin typeface="Noto Sans CJK SC"/>
              </a:defRPr>
            </a:pPr>
            <a:r>
              <a:t>debug_output/rim_geometry_20260923/frame03/localization.json</a:t>
            </a:r>
          </a:p>
          <a:p>
            <a:pPr>
              <a:defRPr sz="1200">
                <a:latin typeface="Noto Sans CJK SC"/>
              </a:defRPr>
            </a:pPr>
            <a:r>
              <a:t>debug_output/rim_geometry_20260923/frame01/contacts.png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7 页：Each bowl has its own candidates and processing order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这一帧白碗和绿碗各有 8 个抓取候选。候选属于同一只碗的不同接触选择，不会被当成额外目标。物体按首选接触点到机器人基座的 XY 距离排序，因此该帧白碗先于绿碗。这里的编号只属于当前观测，不能拿其他帧的编号直接匹配。两只碗各自完整六段规划都已通过，但这是 plan-only；真正执行时会重新观测，并且每轮只抓一只。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debug_output/live_demo_20260927_gjgip1/plan_01/round_0001/candidates.json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debug_output/live_demo_20260927_gjgip1/plan_01/result.json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debug_output/live_demo_20260927_gjgip1/plan_01/round_0001/detection_overlay.png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8 页：Feasible contacts still require feasible robot motion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接触点几何合理之后，机械臂仍可能无法到达或无法完成后续下降。现场曾复现肩部和腕部关节绕行、软硬限位不一致及接近轨迹过长的问题。当前实现检查等价关节角、软硬限位交集，并对有限个 IK 分支按关节行程排序。接近、下降和抬升还要联合检查。同碗候选回退已有真实 MoveIt 配合模拟控制器的证据，但 9 月 27 日现场运行使用的是首候选，没有实机验证首候选失败后换第二个的分支。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docs/planning_diagnosis_20260923.md</a:t>
            </a:r>
          </a:p>
          <a:p>
            <a:pPr>
              <a:defRPr sz="1200">
                <a:latin typeface="Noto Sans CJK SC"/>
              </a:defRPr>
            </a:pPr>
            <a:r>
              <a:t>src/grasp_executor/grasp_executor/ik_angles.py</a:t>
            </a:r>
          </a:p>
          <a:p>
            <a:pPr>
              <a:defRPr sz="1200">
                <a:latin typeface="Noto Sans CJK SC"/>
              </a:defRPr>
            </a:pPr>
            <a:r>
              <a:t>debug_output/demo_implementation_20260925/moveit/result.json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debug_output/live_demo_20260927_gjgip1/lift_02.png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9 页：A stored TCP reference makes placement repeatable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固定放置准备姿态保存于配置，以机器人固定基座为参考，不在每次程序启动时重新采当前位置。执行前将 TCP 参考通过静态 TF 转为 grasp_center 的目标，再由 MoveIt 求解。运动一共六段；接近位打开夹爪，下降后闭合，抬升后转移，放置下降到位并静止后等待一秒，再打开并退回。预抓和抬升高度为 10 厘米，放置下降为 20 厘米。页面照片是不同实验中的动作示例，不是同一次连续过程。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src/grasp_executor/config/place_config.json</a:t>
            </a:r>
          </a:p>
          <a:p>
            <a:pPr>
              <a:defRPr sz="1200">
                <a:latin typeface="Noto Sans CJK SC"/>
              </a:defRPr>
            </a:pPr>
            <a:r>
              <a:t>src/grasp_executor/grasp_executor/grasp.py</a:t>
            </a:r>
          </a:p>
          <a:p>
            <a:pPr>
              <a:defRPr sz="1200">
                <a:latin typeface="Noto Sans CJK SC"/>
              </a:defRPr>
            </a:pPr>
            <a:r>
              <a:t>docs/place_offline_debug_20260923.md</a:t>
            </a:r>
          </a:p>
          <a:p>
            <a:pPr>
              <a:defRPr sz="1200">
                <a:latin typeface="Noto Sans CJK SC"/>
              </a:defRPr>
            </a:pPr>
            <a:r>
              <a:t>debug_output/planning_diagnosis_20260923/green_lifted.png</a:t>
            </a:r>
          </a:p>
          <a:p>
            <a:pPr>
              <a:defRPr sz="1200">
                <a:latin typeface="Noto Sans CJK SC"/>
              </a:defRPr>
            </a:pPr>
            <a:r>
              <a:t>debug_output/planning_diagnosis_20260923/green_placed.jpg</a:t>
            </a:r>
          </a:p>
          <a:p>
            <a:pPr>
              <a:defRPr sz="1200">
                <a:latin typeface="Noto Sans CJK SC"/>
              </a:defRPr>
            </a:pPr>
            <a:r>
              <a:t>debug_output/planning_diagnosis_20260923/white_placed_final.png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10 页：One completed bowl, then a new observation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修复后的绿碗运行第一轮检测到一只碗，完成抓取、放置、释放和退回后，自动启动第二轮。第二轮原始采集时间严格晚于新的采集门槛，检测到取物区为空后任务结束。这里不复用旧目标坐标，也不依赖跨帧物体编号。右侧照片记录最终场景，零检测结论同时来自第二轮结果日志。它不能独立证明放置成功，必须结合执行状态和现场观察。这是分步重新观察，不是运动中视觉伺服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debug_output/live_demo_20260927_gjgip1/execute_02_after_fix/result.json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debug_output/live_demo_20260927_gjgip1/live_verification_summary.json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debug_output/live_demo_20260927_gjgip1/execute_02_after_fix/round_0001/detection_overlay.png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debug_output/live_demo_20260927_gjgip1/final_scene.png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11 页：Both bowl types were lifted and placed in supervised trials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这四张原图记录 9 月 23 日绿碗抓起、绿碗放下、白碗抓起和白碗放下。绿碗首次执行中有人进入区域而中止，之后经用户确认使用一次性恢复脚本继续完成，不能当作自动恢复能力。随后人工清空固定放置区，白碗正式执行最终完整成功。两类碗都完成实际搬运，有图像和日志支持；但是这些不是一次无人干预的连续双碗任务，也不能由这两次展示计算总体成功率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docs/planning_diagnosis_20260923.md</a:t>
            </a:r>
          </a:p>
          <a:p>
            <a:pPr>
              <a:defRPr sz="1200">
                <a:latin typeface="Noto Sans CJK SC"/>
              </a:defRPr>
            </a:pPr>
            <a:r>
              <a:t>debug_output/planning_diagnosis_20260923/green_lifted.png</a:t>
            </a:r>
          </a:p>
          <a:p>
            <a:pPr>
              <a:defRPr sz="1200">
                <a:latin typeface="Noto Sans CJK SC"/>
              </a:defRPr>
            </a:pPr>
            <a:r>
              <a:t>debug_output/planning_diagnosis_20260923/green_placed.jpg</a:t>
            </a:r>
          </a:p>
          <a:p>
            <a:pPr>
              <a:defRPr sz="1200">
                <a:latin typeface="Noto Sans CJK SC"/>
              </a:defRPr>
            </a:pPr>
            <a:r>
              <a:t>debug_output/planning_diagnosis_20260923/white_lifted.jpg</a:t>
            </a:r>
          </a:p>
          <a:p>
            <a:pPr>
              <a:defRPr sz="1200">
                <a:latin typeface="Noto Sans CJK SC"/>
              </a:defRPr>
            </a:pPr>
            <a:r>
              <a:t>debug_output/planning_diagnosis_20260923/white_placed_final.png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12 页：The fixed placement point exposed a multi-bowl limitation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双碗任务揭示了单碗演示不容易发现的问题：第一个碗放到固定位置后，第二个碗不能直接复用同一个被占据的放置空间。9 月 23 日的实验由人员移走已放好的绿碗，之后再继续白碗。现有程序没有放置区容量感知，也没有自动分配多个落点或堆叠策略。当前取物 ROI 与放置区分离，可以减少重复检测，但它本身并不解决接收区占用问题。这是后续真正连续多碗任务必须验收的条件。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docs/planning_diagnosis_20260923.md</a:t>
            </a:r>
          </a:p>
          <a:p>
            <a:pPr>
              <a:defRPr sz="1200">
                <a:latin typeface="Noto Sans CJK SC"/>
              </a:defRPr>
            </a:pPr>
            <a:r>
              <a:t>docs/demo_implementation_20260925.md</a:t>
            </a:r>
          </a:p>
          <a:p>
            <a:pPr>
              <a:defRPr sz="1200">
                <a:latin typeface="Noto Sans CJK SC"/>
              </a:defRPr>
            </a:pPr>
            <a:r>
              <a:t>debug_output/planning_diagnosis_20260923/green_placed.jpg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13 页：Post-fix execution completed a full cycle and re-observation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9 月 27 日初始双碗都通过了六段规划。白碗现场抓起并放下，但首次运行终端异常退出，退回阶段被取消，所以不能算完整任务成功。修复运行器监督后，重新采集剩余绿碗并完成全流程，第二轮重新观察到零目标。这里表中的完成次数仅指这次修复后的绿碗运行，不是整个项目的实验总数。动作结果成功仍不等于夹持传感器确认，程序保留 grasp_verified=false 和 placement_verified=false。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docs/live_demo_verification_20260927.md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debug_output/live_demo_20260927_gjgip1/live_verification_summary.json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debug_output/live_demo_20260927_gjgip1/execute_02_after_fix/result.json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debug_output/live_demo_20260927_gjgip1/lift_02.png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14 页：An interrupted trial led to stronger process supervision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第一次白碗运行的终端会话结束后，独立执行器仍在运行。终端被谁结束尚未确定，已经确认并修复的是执行器没有监测运行器消失这一缺口。新增监督机制同时检查 PID 和进程启动身份，防止 PID 复用；运行器消失时触发既有取消和停止流程，不自动释放。SIGTERM 与 SIGHUP 的所属节点清理已在隔离 ROS 中验证，运动期间异常由假接口测试，没有故意对运动中的真机注入崩溃。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docs/live_demo_verification_20260927.md</a:t>
            </a:r>
          </a:p>
          <a:p>
            <a:pPr>
              <a:defRPr sz="1200">
                <a:latin typeface="Noto Sans CJK SC"/>
              </a:defRPr>
            </a:pPr>
            <a:r>
              <a:t>src/grasp_executor/grasp_executor/process_guard.py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debug_output/live_demo_20260927_gjgip1/lift_01.png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15 页：Software validation is distinct from physical success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验证分成纯逻辑、ROS 启动和通信、实际 MoveIt 配合模拟控制器，以及现场运动几个层级。503 项是 9 月 27 日软件回归数量，默认跳过的 7 项隔离启动测试后来单独全部通过。15 项 MoveIt 检查来自 9 月 25 日，包含候选回退、模拟执行、不可达拒绝和工具变换。表中日期及范围分别列出，不把不同套件数量相加，也不把软件通过数当成物理抓取次数。现场总体成功率仍需规范重复试验。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debug_output/live_demo_20260927_gjgip1/live_verification_summary.json</a:t>
            </a:r>
          </a:p>
          <a:p>
            <a:pPr>
              <a:defRPr sz="1200">
                <a:latin typeface="Noto Sans CJK SC"/>
              </a:defRPr>
            </a:pPr>
            <a:r>
              <a:t>debug_output/demo_implementation_20260925/verification_summary.json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16 页：What is demonstrated, and what needs the next experiment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目前已经打通多实例 RGB-D 感知、局部碗沿候选、完整路径预检、固定放置和逐次重新观察，并有白碗绿碗的监督式实机记录。下一步应做候选数量和重新观察策略的对照实验，测量实际抓取与完整任务成功率、耗时、候选尝试数和人工介入次数。同时需要夹持与释放确认、放置区占用检测。当前没有桌面或携带物环境模型，不应推广为未知复杂环境的通用避障。重点是把可运行演示推进为可量化的双碗连续任务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docs/README.md</a:t>
            </a:r>
          </a:p>
          <a:p>
            <a:pPr>
              <a:defRPr sz="1200">
                <a:latin typeface="Noto Sans CJK SC"/>
              </a:defRPr>
            </a:pPr>
            <a:r>
              <a:t>docs/demo_implementation_20260925.md</a:t>
            </a:r>
          </a:p>
          <a:p>
            <a:pPr>
              <a:defRPr sz="1200">
                <a:latin typeface="Noto Sans CJK SC"/>
              </a:defRPr>
            </a:pPr>
            <a:r>
              <a:t>docs/live_demo_verification_20260927.md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17 页：Appendix A — Current configuration and interfaces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这一页供导师追问实现时使用。三个包职责保持分离，新增候选分组 JSON 同时携带任务、观测、物体与候选身份。旧单点和 PoseArray 输入仍兼容，但当前完整抓放入口使用 candidate_groups。预抓与抬升 10 厘米，固定放置下降 20 厘米，等待一秒。位姿以 base 或统一后的 base_link 表示，执行工具是 grasp_center。目标有效期上限为 600 秒，但重新观察依然要求真实新帧，不把旧消息修改时间戳后重复使用。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src/rim_locator/config/place_config.json</a:t>
            </a:r>
          </a:p>
          <a:p>
            <a:pPr>
              <a:defRPr sz="1200">
                <a:latin typeface="Noto Sans CJK SC"/>
              </a:defRPr>
            </a:pPr>
            <a:r>
              <a:t>src/grasp_executor/config/place_config.json</a:t>
            </a:r>
          </a:p>
          <a:p>
            <a:pPr>
              <a:defRPr sz="1200">
                <a:latin typeface="Noto Sans CJK SC"/>
              </a:defRPr>
            </a:pPr>
            <a:r>
              <a:t>docs/README.md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第 18 页：Appendix B — Reproduction and source records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中文讲稿</a:t>
            </a:r>
          </a:p>
          <a:p>
            <a:pPr>
              <a:defRPr sz="1200">
                <a:latin typeface="Noto Sans CJK SC"/>
              </a:defRPr>
            </a:pPr>
            <a:r>
              <a:t>如需现场复现，先运行硬件准备脚本并保持终端，再用完整抓放的 plan-only 入口检查本次观测，随后才使用 execute 入口。这里提供 9 月 27 日的现场 ROI，移动相机或改变桌面布置后必须重新核对。离线测试入口会构建并运行隔离环境，不连接真机。所有照片保留了原始来源；报告随附逐页来源清单和中文备注，方便回答导师追问。本文引用历史已完成的测试，本次制作 PPT 没有再次运行机械臂。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证据来源（相对工作区根目录）</a:t>
            </a:r>
          </a:p>
          <a:p>
            <a:pPr>
              <a:defRPr sz="1200">
                <a:latin typeface="Noto Sans CJK SC"/>
              </a:defRPr>
            </a:pPr>
            <a:r>
              <a:t>New_run/README.md</a:t>
            </a:r>
          </a:p>
          <a:p>
            <a:pPr>
              <a:defRPr sz="1200">
                <a:latin typeface="Noto Sans CJK SC"/>
              </a:defRPr>
            </a:pPr>
            <a:r>
              <a:t>docs/README.md</a:t>
            </a:r>
          </a:p>
          <a:p>
            <a:pPr>
              <a:defRPr sz="1200">
                <a:latin typeface="Noto Sans CJK SC"/>
              </a:defRPr>
            </a:pPr>
            <a:r>
              <a:t>docs/live_demo_verification_20260927.md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10.jp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RESEARCH PROGRESS  /  02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EXPERIMENTS: 23–27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01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700" b="1">
                <a:solidFill>
                  <a:srgbClr val="142D43"/>
                </a:solidFill>
                <a:latin typeface="Liberation Sans"/>
              </a:defRPr>
            </a:pPr>
            <a:r>
              <a:t>RGB-D–Guided</a:t>
            </a:r>
          </a:p>
          <a:p>
            <a:pPr>
              <a:spcAft>
                <a:spcPts val="300"/>
              </a:spcAft>
              <a:defRPr sz="3700" b="1">
                <a:solidFill>
                  <a:srgbClr val="142D43"/>
                </a:solidFill>
                <a:latin typeface="Liberation Sans"/>
              </a:defRPr>
            </a:pPr>
            <a:r>
              <a:t>Bowl Grasping</a:t>
            </a:r>
          </a:p>
          <a:p>
            <a:pPr>
              <a:spcAft>
                <a:spcPts val="300"/>
              </a:spcAft>
              <a:defRPr sz="3700" b="1">
                <a:solidFill>
                  <a:srgbClr val="142D43"/>
                </a:solidFill>
                <a:latin typeface="Liberation Sans"/>
              </a:defRPr>
            </a:pPr>
            <a:r>
              <a:t>and 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346704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007F82"/>
                </a:solidFill>
                <a:latin typeface="Liberation Sans"/>
              </a:defRPr>
            </a:pPr>
            <a:r>
              <a:t>with a UR5e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4105656"/>
            <a:ext cx="438912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586A78"/>
                </a:solidFill>
                <a:latin typeface="Liberation Sans"/>
              </a:defRPr>
            </a:pPr>
            <a:r>
              <a:t>From single contacts to</a:t>
            </a:r>
          </a:p>
          <a:p>
            <a:pPr>
              <a:spcAft>
                <a:spcPts val="300"/>
              </a:spcAft>
              <a:defRPr sz="2000" b="0">
                <a:solidFill>
                  <a:srgbClr val="586A78"/>
                </a:solidFill>
                <a:latin typeface="Liberation Sans"/>
              </a:defRPr>
            </a:pPr>
            <a:r>
              <a:t>candidate-based planning</a:t>
            </a:r>
          </a:p>
          <a:p>
            <a:pPr>
              <a:spcAft>
                <a:spcPts val="300"/>
              </a:spcAft>
              <a:defRPr sz="2000" b="0">
                <a:solidFill>
                  <a:srgbClr val="586A78"/>
                </a:solidFill>
                <a:latin typeface="Liberation Sans"/>
              </a:defRPr>
            </a:pPr>
            <a:r>
              <a:t>and repeated observation</a:t>
            </a:r>
          </a:p>
        </p:txBody>
      </p:sp>
      <p:pic>
        <p:nvPicPr>
          <p:cNvPr id="11" name="Picture 10" descr="rgb.png"/>
          <p:cNvPicPr>
            <a:picLocks noChangeAspect="1"/>
          </p:cNvPicPr>
          <p:nvPr/>
        </p:nvPicPr>
        <p:blipFill>
          <a:blip r:embed="rId2"/>
          <a:srcRect l="7300" r="26050" t="15000"/>
          <a:stretch>
            <a:fillRect/>
          </a:stretch>
        </p:blipFill>
        <p:spPr>
          <a:xfrm>
            <a:off x="5422392" y="987552"/>
            <a:ext cx="6263640" cy="4992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687568"/>
            <a:ext cx="4663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TWO BOWLS · ONE ROBOT · VERIFIED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01  /  TASK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A defined tabletop task, with separate pick and place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UR5e + parallel gripper + Orbbec Gemini2L + ROS 2 Humble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02  /  18</a:t>
            </a:r>
          </a:p>
        </p:txBody>
      </p:sp>
      <p:pic>
        <p:nvPicPr>
          <p:cNvPr id="9" name="Picture 8" descr="rgb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783080"/>
            <a:ext cx="6675120" cy="4171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84031" y="3790830"/>
            <a:ext cx="1381958" cy="886539"/>
          </a:xfrm>
          <a:prstGeom prst="rect">
            <a:avLst/>
          </a:prstGeom>
          <a:noFill/>
          <a:ln w="25400">
            <a:solidFill>
              <a:srgbClr val="007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84031" y="3618737"/>
            <a:ext cx="1645920" cy="219456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1463" y="362788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Liberation Sans"/>
              </a:defRPr>
            </a:pPr>
            <a:r>
              <a:t>PICKING REGION</a:t>
            </a:r>
          </a:p>
        </p:txBody>
      </p:sp>
      <p:sp>
        <p:nvSpPr>
          <p:cNvPr id="13" name="Oval 12"/>
          <p:cNvSpPr/>
          <p:nvPr/>
        </p:nvSpPr>
        <p:spPr>
          <a:xfrm>
            <a:off x="2846927" y="3986283"/>
            <a:ext cx="109728" cy="109728"/>
          </a:xfrm>
          <a:prstGeom prst="ellipse">
            <a:avLst/>
          </a:prstGeom>
          <a:solidFill>
            <a:srgbClr val="246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224528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Fixed placement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34072" y="1783080"/>
            <a:ext cx="4251960" cy="122529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34072" y="1783080"/>
            <a:ext cx="41148" cy="1225296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8664" y="1911095"/>
            <a:ext cx="39227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2"/>
                </a:solidFill>
                <a:latin typeface="Liberation Sans"/>
              </a:defRPr>
            </a:pPr>
            <a:r>
              <a:t>1  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4" y="2441448"/>
            <a:ext cx="39227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Observe the bowls inside the picking region.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4072" y="3182112"/>
            <a:ext cx="4251960" cy="122529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34072" y="3182112"/>
            <a:ext cx="41148" cy="1225296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4" y="3310128"/>
            <a:ext cx="39227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2"/>
                </a:solidFill>
                <a:latin typeface="Liberation Sans"/>
              </a:defRPr>
            </a:pPr>
            <a:r>
              <a:t>2  Grasp and 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4" y="3840480"/>
            <a:ext cx="39227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Use a rim contact and a stored placement pose.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072" y="4572000"/>
            <a:ext cx="4251960" cy="122529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34072" y="4572000"/>
            <a:ext cx="41148" cy="1225296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4" y="4700016"/>
            <a:ext cx="39227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2"/>
                </a:solidFill>
                <a:latin typeface="Liberation Sans"/>
              </a:defRPr>
            </a:pPr>
            <a:r>
              <a:t>3  Observe again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4" y="5230368"/>
            <a:ext cx="39227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Acquire a new scene after release and retreat.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02  / 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What changed from the initial grasping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Three ROS packages retained; perception, geometry and execution extended.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03  / 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856231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38528"/>
            <a:ext cx="163677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828800"/>
            <a:ext cx="365760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938528"/>
            <a:ext cx="343814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Earlier capability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6752" y="1828800"/>
            <a:ext cx="566928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938528"/>
            <a:ext cx="54498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Current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86000"/>
            <a:ext cx="1856231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404872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Perception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9152" y="2286000"/>
            <a:ext cx="3657600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404872"/>
            <a:ext cx="3438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Single-target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6752" y="2286000"/>
            <a:ext cx="5669280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404872"/>
            <a:ext cx="54498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Multiple instances + depth diagnostics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90088"/>
            <a:ext cx="1856231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108960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Rim geometry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9152" y="2990088"/>
            <a:ext cx="3657600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108960"/>
            <a:ext cx="3438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One preferred contact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16752" y="2990088"/>
            <a:ext cx="5669280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108960"/>
            <a:ext cx="54498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Up to 8 supported candidates per bowl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94176"/>
            <a:ext cx="1856231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813048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Motion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9152" y="3694176"/>
            <a:ext cx="3657600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3813048"/>
            <a:ext cx="3438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Approach / descend / lift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6752" y="3694176"/>
            <a:ext cx="5669280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813048"/>
            <a:ext cx="54498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Six-stage grasp, transfer and placement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398264"/>
            <a:ext cx="1856231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517136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Task execution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9152" y="4398264"/>
            <a:ext cx="3657600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4517136"/>
            <a:ext cx="3438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Reuse one target snapshot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16752" y="4398264"/>
            <a:ext cx="5669280" cy="70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517136"/>
            <a:ext cx="54498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One bowl per round; then observe again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02352"/>
            <a:ext cx="1856231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5221224"/>
            <a:ext cx="1636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Operation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9152" y="5102352"/>
            <a:ext cx="3657600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80" y="5221224"/>
            <a:ext cx="3438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Separate manual processes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16752" y="5102352"/>
            <a:ext cx="5669280" cy="70408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221224"/>
            <a:ext cx="54498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Mode isolation, logs and process supervision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Contribution: an integrated, testable manipulation pipeline with explicit failure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03  /  TWO-BOWL PERCEPTION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Two bowls are segmented and reconstructed independently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One synchronized RGB-D observation  |  27 Sep 2026  |  plan-only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04  /  18</a:t>
            </a:r>
          </a:p>
        </p:txBody>
      </p:sp>
      <p:pic>
        <p:nvPicPr>
          <p:cNvPr id="9" name="Picture 8" descr="detection_overlay.png"/>
          <p:cNvPicPr>
            <a:picLocks noChangeAspect="1"/>
          </p:cNvPicPr>
          <p:nvPr/>
        </p:nvPicPr>
        <p:blipFill>
          <a:blip r:embed="rId2"/>
          <a:srcRect l="43750" r="29688" t="47318" b="32318"/>
          <a:stretch>
            <a:fillRect/>
          </a:stretch>
        </p:blipFill>
        <p:spPr>
          <a:xfrm>
            <a:off x="502920" y="1847088"/>
            <a:ext cx="658368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" y="5157216"/>
            <a:ext cx="6492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ORIGINAL SEGMENTATION OVERLAY · DISPLAY CROP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51775" y="1847088"/>
            <a:ext cx="2002536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1503" y="1956816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Recorded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4311" y="1847088"/>
            <a:ext cx="1161288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39" y="1956816"/>
            <a:ext cx="9418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White bowl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599" y="1847088"/>
            <a:ext cx="1161288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25327" y="1956816"/>
            <a:ext cx="9418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Green bowl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5" y="2304288"/>
            <a:ext cx="2002536" cy="64008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3" y="2423160"/>
            <a:ext cx="1783080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Instance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4311" y="2304288"/>
            <a:ext cx="1161288" cy="64008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39" y="2423160"/>
            <a:ext cx="94183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599" y="2304288"/>
            <a:ext cx="1161288" cy="64008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25327" y="2423160"/>
            <a:ext cx="94183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1775" y="2944368"/>
            <a:ext cx="2002536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3" y="3063239"/>
            <a:ext cx="1783080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Confidence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54311" y="2944368"/>
            <a:ext cx="116128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39" y="3063239"/>
            <a:ext cx="94183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0.762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599" y="2944368"/>
            <a:ext cx="116128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25327" y="3063239"/>
            <a:ext cx="94183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0.805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1775" y="3584448"/>
            <a:ext cx="2002536" cy="64008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3703320"/>
            <a:ext cx="1783080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Valid depth 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54311" y="3584448"/>
            <a:ext cx="1161288" cy="64008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39" y="3703320"/>
            <a:ext cx="94183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6,146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599" y="3584448"/>
            <a:ext cx="1161288" cy="64008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25327" y="3703320"/>
            <a:ext cx="94183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4,595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51775" y="4224528"/>
            <a:ext cx="2002536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3" y="4343400"/>
            <a:ext cx="1783080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Valid depth ratio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54311" y="4224528"/>
            <a:ext cx="116128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39" y="4343400"/>
            <a:ext cx="94183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97.8%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599" y="4224528"/>
            <a:ext cx="116128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25327" y="4343400"/>
            <a:ext cx="94183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100.0%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Detection, valid depth and a usable grasp are three different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04  /  TWO-BOWL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White and green bowls offer different wall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Recorded geometry example  |  23 Sep 2026, frame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05  /  18</a:t>
            </a:r>
          </a:p>
        </p:txBody>
      </p:sp>
      <p:pic>
        <p:nvPicPr>
          <p:cNvPr id="9" name="Picture 8" descr="contacts.png"/>
          <p:cNvPicPr>
            <a:picLocks noChangeAspect="1"/>
          </p:cNvPicPr>
          <p:nvPr/>
        </p:nvPicPr>
        <p:blipFill>
          <a:blip r:embed="rId2"/>
          <a:srcRect l="51953" r="35547" t="57140" b="32140"/>
          <a:stretch>
            <a:fillRect/>
          </a:stretch>
        </p:blipFill>
        <p:spPr>
          <a:xfrm>
            <a:off x="502920" y="1801368"/>
            <a:ext cx="5340096" cy="2862072"/>
          </a:xfrm>
          <a:prstGeom prst="rect">
            <a:avLst/>
          </a:prstGeom>
        </p:spPr>
      </p:pic>
      <p:pic>
        <p:nvPicPr>
          <p:cNvPr id="10" name="Picture 9" descr="contacts.png"/>
          <p:cNvPicPr>
            <a:picLocks noChangeAspect="1"/>
          </p:cNvPicPr>
          <p:nvPr/>
        </p:nvPicPr>
        <p:blipFill>
          <a:blip r:embed="rId2"/>
          <a:srcRect l="53125" r="37500" t="48177" b="44177"/>
          <a:stretch>
            <a:fillRect/>
          </a:stretch>
        </p:blipFill>
        <p:spPr>
          <a:xfrm>
            <a:off x="6071616" y="1801368"/>
            <a:ext cx="5614416" cy="28620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4736592"/>
            <a:ext cx="5340096" cy="121615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736592"/>
            <a:ext cx="41148" cy="1216152"/>
          </a:xfrm>
          <a:prstGeom prst="rect">
            <a:avLst/>
          </a:prstGeom>
          <a:solidFill>
            <a:srgbClr val="447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864607"/>
            <a:ext cx="50109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447C36"/>
                </a:solidFill>
                <a:latin typeface="Liberation Sans"/>
              </a:defRPr>
            </a:pPr>
            <a:r>
              <a:t>Green bowl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394959"/>
            <a:ext cx="50109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30 wall points  |  11.73° local wall tilt</a:t>
            </a:r>
          </a:p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0.609 mm plane residual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4736592"/>
            <a:ext cx="5614416" cy="121615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71616" y="4736592"/>
            <a:ext cx="41148" cy="1216152"/>
          </a:xfrm>
          <a:prstGeom prst="rect">
            <a:avLst/>
          </a:prstGeom>
          <a:solidFill>
            <a:srgbClr val="246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4864607"/>
            <a:ext cx="528523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46FBC"/>
                </a:solidFill>
                <a:latin typeface="Liberation Sans"/>
              </a:defRPr>
            </a:pPr>
            <a:r>
              <a:t>White bowl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5394959"/>
            <a:ext cx="5285231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33 wall points  |  31.89° local wall tilt</a:t>
            </a:r>
          </a:p>
          <a:p>
            <a:pPr>
              <a:spcAft>
                <a:spcPts val="300"/>
              </a:spcAft>
              <a:defRPr sz="1600" b="0">
                <a:solidFill>
                  <a:srgbClr val="142D43"/>
                </a:solidFill>
                <a:latin typeface="Liberation Sans"/>
              </a:defRPr>
            </a:pPr>
            <a:r>
              <a:t>0.549 mm plane residual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Measured wall tilt is not commanded tool tilt; the current tool remains vertical.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05  /  TWO-BOWL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Both bowls were localized in three recorded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Recorded RGB-D replay  |  same geometric acceptance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06  /  18</a:t>
            </a:r>
          </a:p>
        </p:txBody>
      </p:sp>
      <p:pic>
        <p:nvPicPr>
          <p:cNvPr id="9" name="Picture 8" descr="contacts.png"/>
          <p:cNvPicPr>
            <a:picLocks noChangeAspect="1"/>
          </p:cNvPicPr>
          <p:nvPr/>
        </p:nvPicPr>
        <p:blipFill>
          <a:blip r:embed="rId2"/>
          <a:srcRect l="47656" r="33594" t="44106" b="29731"/>
          <a:stretch>
            <a:fillRect/>
          </a:stretch>
        </p:blipFill>
        <p:spPr>
          <a:xfrm>
            <a:off x="502920" y="1819656"/>
            <a:ext cx="393192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" y="5394960"/>
            <a:ext cx="4023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MEASURED CONTACTS, FRAME 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18304" y="1865376"/>
            <a:ext cx="758952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975104"/>
            <a:ext cx="53949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Frame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7256" y="1865376"/>
            <a:ext cx="2212848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4" y="1975104"/>
            <a:ext cx="199339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Green: points / tilt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865376"/>
            <a:ext cx="2212848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1975104"/>
            <a:ext cx="199339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White: points / tilt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2952" y="1865376"/>
            <a:ext cx="178308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1975104"/>
            <a:ext cx="1563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Localized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18304" y="2322576"/>
            <a:ext cx="758952" cy="65836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2441448"/>
            <a:ext cx="539496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77256" y="2322576"/>
            <a:ext cx="2212848" cy="65836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6984" y="2441448"/>
            <a:ext cx="1993391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30 / 11.73°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0104" y="2322576"/>
            <a:ext cx="2212848" cy="65836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9831" y="2441448"/>
            <a:ext cx="1993391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33 / 31.89°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2952" y="2322576"/>
            <a:ext cx="1783080" cy="65836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441448"/>
            <a:ext cx="1563624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 /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18304" y="2980944"/>
            <a:ext cx="75895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099815"/>
            <a:ext cx="539496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7256" y="2980944"/>
            <a:ext cx="221284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4" y="3099815"/>
            <a:ext cx="1993391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42 / 13.82°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90104" y="2980944"/>
            <a:ext cx="221284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3099815"/>
            <a:ext cx="1993391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43 / 36.80°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02952" y="2980944"/>
            <a:ext cx="178308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3099815"/>
            <a:ext cx="1563624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 /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18304" y="3639311"/>
            <a:ext cx="758952" cy="65836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758183"/>
            <a:ext cx="539496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77256" y="3639311"/>
            <a:ext cx="2212848" cy="65836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86984" y="3758183"/>
            <a:ext cx="1993391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50 / 8.82°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0104" y="3639311"/>
            <a:ext cx="2212848" cy="65836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9831" y="3758183"/>
            <a:ext cx="1993391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23 / 37.37°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02952" y="3639311"/>
            <a:ext cx="1783080" cy="65836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2680" y="3758183"/>
            <a:ext cx="1563624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 /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4617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07F82"/>
                </a:solidFill>
                <a:latin typeface="Liberation Sans"/>
              </a:defRPr>
            </a:pPr>
            <a:r>
              <a:t>Quality gates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8032" y="5111496"/>
            <a:ext cx="6492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≥20 wall points  ·  ≥6 mm wall span</a:t>
            </a:r>
          </a:p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≤2.5 mm residual  ·  ≤12° normal change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Observed fitting residual: 0.46–0.74 mm. This is not ground-truth positioning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06  /  TWO-BOWL CANDIDATES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Each bowl has its own candidates and processing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27 Sep plan-only snapshot  |  complete six-stage plans found for both bowls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07  /  18</a:t>
            </a:r>
          </a:p>
        </p:txBody>
      </p:sp>
      <p:pic>
        <p:nvPicPr>
          <p:cNvPr id="9" name="Picture 8" descr="detection_overlay.png"/>
          <p:cNvPicPr>
            <a:picLocks noChangeAspect="1"/>
          </p:cNvPicPr>
          <p:nvPr/>
        </p:nvPicPr>
        <p:blipFill>
          <a:blip r:embed="rId2"/>
          <a:srcRect l="48438" r="32422" t="48417" b="36542"/>
          <a:stretch>
            <a:fillRect/>
          </a:stretch>
        </p:blipFill>
        <p:spPr>
          <a:xfrm>
            <a:off x="502920" y="1783080"/>
            <a:ext cx="5157216" cy="2532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" y="4572000"/>
            <a:ext cx="496519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42D43"/>
                </a:solidFill>
                <a:latin typeface="Liberation Sans"/>
              </a:defRPr>
            </a:pPr>
            <a:r>
              <a:t>Ordering uses geometry, not color or instance 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801368"/>
            <a:ext cx="1536192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8" y="1911095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Bowl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34072" y="1801368"/>
            <a:ext cx="45720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911095"/>
            <a:ext cx="23774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1272" y="1801368"/>
            <a:ext cx="118872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911095"/>
            <a:ext cx="96926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Candidates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9992" y="1801368"/>
            <a:ext cx="1435608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911095"/>
            <a:ext cx="12161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XY distance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1801368"/>
            <a:ext cx="1170432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25328" y="1911095"/>
            <a:ext cx="950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258568"/>
            <a:ext cx="1536192" cy="78638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608" y="2377439"/>
            <a:ext cx="131673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White bowl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072" y="2258568"/>
            <a:ext cx="457200" cy="78638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377439"/>
            <a:ext cx="23774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91272" y="2258568"/>
            <a:ext cx="1188720" cy="78638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2377439"/>
            <a:ext cx="96926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9992" y="2258568"/>
            <a:ext cx="1435608" cy="78638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2377439"/>
            <a:ext cx="12161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0.654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2258568"/>
            <a:ext cx="1170432" cy="78638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25328" y="2377439"/>
            <a:ext cx="9509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6 /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3044951"/>
            <a:ext cx="153619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7608" y="3163823"/>
            <a:ext cx="131673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Green bowl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34072" y="3044951"/>
            <a:ext cx="45720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3163823"/>
            <a:ext cx="23774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91272" y="3044951"/>
            <a:ext cx="118872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3163823"/>
            <a:ext cx="96926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79992" y="3044951"/>
            <a:ext cx="1435608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3163823"/>
            <a:ext cx="1216152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0.827 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3044951"/>
            <a:ext cx="1170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25328" y="3163823"/>
            <a:ext cx="9509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6 /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4187952"/>
            <a:ext cx="5788152" cy="141732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7880" y="4187952"/>
            <a:ext cx="41148" cy="1417320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62472" y="4315968"/>
            <a:ext cx="54589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2"/>
                </a:solidFill>
                <a:latin typeface="Liberation Sans"/>
              </a:defRPr>
            </a:pPr>
            <a:r>
              <a:t>Before the first motion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62472" y="4846320"/>
            <a:ext cx="545896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Reject infeasible candidates. Execute only after the entire six-stage path passes.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Both targets planned successfully in this snapshot; planning success is not physical grasp success.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07  /  MOTION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Feasible contacts still require feasible robot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Bounded IK search + OMPL transfer + Cartesian vertical segments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08  /  18</a:t>
            </a:r>
          </a:p>
        </p:txBody>
      </p:sp>
      <p:pic>
        <p:nvPicPr>
          <p:cNvPr id="9" name="Picture 8" descr="lift_02.png"/>
          <p:cNvPicPr>
            <a:picLocks noChangeAspect="1"/>
          </p:cNvPicPr>
          <p:nvPr/>
        </p:nvPicPr>
        <p:blipFill>
          <a:blip r:embed="rId2"/>
          <a:srcRect l="18750" r="21875" t="31901" b="8776"/>
          <a:stretch>
            <a:fillRect/>
          </a:stretch>
        </p:blipFill>
        <p:spPr>
          <a:xfrm>
            <a:off x="502920" y="1810512"/>
            <a:ext cx="6355080" cy="39684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14032" y="1810512"/>
            <a:ext cx="4572000" cy="121615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14032" y="1810512"/>
            <a:ext cx="41148" cy="1216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78624" y="1938528"/>
            <a:ext cx="424281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2"/>
                </a:solidFill>
                <a:latin typeface="Liberation Sans"/>
              </a:defRPr>
            </a:pPr>
            <a:r>
              <a:t>Joint-space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8624" y="2468880"/>
            <a:ext cx="424281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Equivalent angles and URDF soft limits prevent avoidable joint winding.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4032" y="3200400"/>
            <a:ext cx="4572000" cy="121615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14032" y="3200400"/>
            <a:ext cx="41148" cy="1216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3328416"/>
            <a:ext cx="424281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2"/>
                </a:solidFill>
                <a:latin typeface="Liberation Sans"/>
              </a:defRPr>
            </a:pPr>
            <a:r>
              <a:t>Whole-path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3858768"/>
            <a:ext cx="424281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Validate approach, descent, lift, transfer, lowering and retreat.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4032" y="4590288"/>
            <a:ext cx="4572000" cy="121615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14032" y="4590288"/>
            <a:ext cx="41148" cy="1216152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4718303"/>
            <a:ext cx="424281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2"/>
                </a:solidFill>
                <a:latin typeface="Liberation Sans"/>
              </a:defRPr>
            </a:pPr>
            <a:r>
              <a:t>Bounded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5248655"/>
            <a:ext cx="424281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Try another candidate only before motion has started.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Candidate fallback is verified in isolated MoveIt tests; live fallback remains untested.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08  /  SIX-STAGE GRASP &amp;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A stored TCP reference makes placement repeatable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Fixed 6D pose  |  static TCP-to-grasp-center transform  |  MoveIt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09  /  18</a:t>
            </a:r>
          </a:p>
        </p:txBody>
      </p:sp>
      <p:pic>
        <p:nvPicPr>
          <p:cNvPr id="9" name="Picture 8" descr="green_lifted.png"/>
          <p:cNvPicPr>
            <a:picLocks noChangeAspect="1"/>
          </p:cNvPicPr>
          <p:nvPr/>
        </p:nvPicPr>
        <p:blipFill>
          <a:blip r:embed="rId2"/>
          <a:srcRect l="21570" r="28602" t="28750" b="13750"/>
          <a:stretch>
            <a:fillRect/>
          </a:stretch>
        </p:blipFill>
        <p:spPr>
          <a:xfrm>
            <a:off x="502920" y="1828800"/>
            <a:ext cx="3575304" cy="2578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517136"/>
            <a:ext cx="3566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LIFT · 23 SEP</a:t>
            </a:r>
          </a:p>
        </p:txBody>
      </p:sp>
      <p:pic>
        <p:nvPicPr>
          <p:cNvPr id="11" name="Picture 10" descr="green_placed.jpg"/>
          <p:cNvPicPr>
            <a:picLocks noChangeAspect="1"/>
          </p:cNvPicPr>
          <p:nvPr/>
        </p:nvPicPr>
        <p:blipFill>
          <a:blip r:embed="rId3"/>
          <a:srcRect l="21570" r="28602" t="28750" b="13750"/>
          <a:stretch>
            <a:fillRect/>
          </a:stretch>
        </p:blipFill>
        <p:spPr>
          <a:xfrm>
            <a:off x="4306824" y="1828800"/>
            <a:ext cx="3575304" cy="2578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06824" y="4517136"/>
            <a:ext cx="3566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PLACE · 23 SEP</a:t>
            </a:r>
          </a:p>
        </p:txBody>
      </p:sp>
      <p:pic>
        <p:nvPicPr>
          <p:cNvPr id="13" name="Picture 12" descr="white_placed_final.png"/>
          <p:cNvPicPr>
            <a:picLocks noChangeAspect="1"/>
          </p:cNvPicPr>
          <p:nvPr/>
        </p:nvPicPr>
        <p:blipFill>
          <a:blip r:embed="rId4"/>
          <a:srcRect l="21570" r="28602" t="28750" b="13750"/>
          <a:stretch>
            <a:fillRect/>
          </a:stretch>
        </p:blipFill>
        <p:spPr>
          <a:xfrm>
            <a:off x="8101583" y="1828800"/>
            <a:ext cx="3575304" cy="2578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01583" y="4517136"/>
            <a:ext cx="3566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RETREAT · 23 SEP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504748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42D43"/>
                </a:solidFill>
                <a:latin typeface="Liberation Sans"/>
              </a:defRPr>
            </a:pPr>
            <a:r>
              <a:t>01  Approach     02  Descend     03  Lift     04  Transfer     05  Lower     06  Retreat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10 cm approach / lift     |     20 cm placement descent     |     1 s hold before release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09  /  REPEATED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One completed bowl, then a new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Post-fix green-bowl run  |  27 Sep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10  /  18</a:t>
            </a:r>
          </a:p>
        </p:txBody>
      </p:sp>
      <p:pic>
        <p:nvPicPr>
          <p:cNvPr id="9" name="Picture 8" descr="detection_overlay.png"/>
          <p:cNvPicPr>
            <a:picLocks noChangeAspect="1"/>
          </p:cNvPicPr>
          <p:nvPr/>
        </p:nvPicPr>
        <p:blipFill>
          <a:blip r:embed="rId2"/>
          <a:srcRect l="26953" r="29688" t="42108" b="19608"/>
          <a:stretch>
            <a:fillRect/>
          </a:stretch>
        </p:blipFill>
        <p:spPr>
          <a:xfrm>
            <a:off x="502920" y="1828800"/>
            <a:ext cx="5468112" cy="3017520"/>
          </a:xfrm>
          <a:prstGeom prst="rect">
            <a:avLst/>
          </a:prstGeom>
        </p:spPr>
      </p:pic>
      <p:pic>
        <p:nvPicPr>
          <p:cNvPr id="10" name="Picture 9" descr="final_scene.png"/>
          <p:cNvPicPr>
            <a:picLocks noChangeAspect="1"/>
          </p:cNvPicPr>
          <p:nvPr/>
        </p:nvPicPr>
        <p:blipFill>
          <a:blip r:embed="rId3"/>
          <a:srcRect l="26953" r="29688" t="42108" b="19608"/>
          <a:stretch>
            <a:fillRect/>
          </a:stretch>
        </p:blipFill>
        <p:spPr>
          <a:xfrm>
            <a:off x="6217920" y="1828800"/>
            <a:ext cx="5468112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2064" y="5029200"/>
            <a:ext cx="5303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ROUND 1 · TARGET 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5029200"/>
            <a:ext cx="5303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ROUND 2 · EMPTY PICKING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5376672"/>
            <a:ext cx="53035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1 bowl completed</a:t>
            </a:r>
          </a:p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6 motion stages executed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5376672"/>
            <a:ext cx="53035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Fresh capture after retreat</a:t>
            </a:r>
          </a:p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0 targets reported by the next 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New timestamps, new candidates and a measured robot start state for every round.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10  /  TWO-BOWL PHYSICAL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Both bowl types were lifted and placed in supervised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23 Sep 2026  |  observations from separate execution and recovery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11  /  18</a:t>
            </a:r>
          </a:p>
        </p:txBody>
      </p:sp>
      <p:pic>
        <p:nvPicPr>
          <p:cNvPr id="9" name="Picture 8" descr="green_lifted.png"/>
          <p:cNvPicPr>
            <a:picLocks noChangeAspect="1"/>
          </p:cNvPicPr>
          <p:nvPr/>
        </p:nvPicPr>
        <p:blipFill>
          <a:blip r:embed="rId2"/>
          <a:srcRect l="18750" r="26562" t="41944" b="30694"/>
          <a:stretch>
            <a:fillRect/>
          </a:stretch>
        </p:blipFill>
        <p:spPr>
          <a:xfrm>
            <a:off x="502920" y="1773936"/>
            <a:ext cx="5468112" cy="1709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547872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447C36"/>
                </a:solidFill>
                <a:latin typeface="Liberation Sans"/>
              </a:defRPr>
            </a:pPr>
            <a:r>
              <a:t>GREEN · LIFTED</a:t>
            </a:r>
          </a:p>
        </p:txBody>
      </p:sp>
      <p:pic>
        <p:nvPicPr>
          <p:cNvPr id="11" name="Picture 10" descr="green_placed.jpg"/>
          <p:cNvPicPr>
            <a:picLocks noChangeAspect="1"/>
          </p:cNvPicPr>
          <p:nvPr/>
        </p:nvPicPr>
        <p:blipFill>
          <a:blip r:embed="rId3"/>
          <a:srcRect l="18750" r="26562" t="41944" b="30694"/>
          <a:stretch>
            <a:fillRect/>
          </a:stretch>
        </p:blipFill>
        <p:spPr>
          <a:xfrm>
            <a:off x="6217920" y="1773936"/>
            <a:ext cx="5468112" cy="1709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547872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447C36"/>
                </a:solidFill>
                <a:latin typeface="Liberation Sans"/>
              </a:defRPr>
            </a:pPr>
            <a:r>
              <a:t>GREEN · PLACED</a:t>
            </a:r>
          </a:p>
        </p:txBody>
      </p:sp>
      <p:pic>
        <p:nvPicPr>
          <p:cNvPr id="13" name="Picture 12" descr="white_lifted.jpg"/>
          <p:cNvPicPr>
            <a:picLocks noChangeAspect="1"/>
          </p:cNvPicPr>
          <p:nvPr/>
        </p:nvPicPr>
        <p:blipFill>
          <a:blip r:embed="rId4"/>
          <a:srcRect l="18750" r="26562" t="41944" b="30694"/>
          <a:stretch>
            <a:fillRect/>
          </a:stretch>
        </p:blipFill>
        <p:spPr>
          <a:xfrm>
            <a:off x="502920" y="3840480"/>
            <a:ext cx="5468112" cy="1709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614416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46FBC"/>
                </a:solidFill>
                <a:latin typeface="Liberation Sans"/>
              </a:defRPr>
            </a:pPr>
            <a:r>
              <a:t>WHITE · LIFTED</a:t>
            </a:r>
          </a:p>
        </p:txBody>
      </p:sp>
      <p:pic>
        <p:nvPicPr>
          <p:cNvPr id="15" name="Picture 14" descr="white_placed_final.png"/>
          <p:cNvPicPr>
            <a:picLocks noChangeAspect="1"/>
          </p:cNvPicPr>
          <p:nvPr/>
        </p:nvPicPr>
        <p:blipFill>
          <a:blip r:embed="rId5"/>
          <a:srcRect l="18750" r="26562" t="41944" b="30694"/>
          <a:stretch>
            <a:fillRect/>
          </a:stretch>
        </p:blipFill>
        <p:spPr>
          <a:xfrm>
            <a:off x="6217920" y="3840480"/>
            <a:ext cx="5468112" cy="1709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5614416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46FBC"/>
                </a:solidFill>
                <a:latin typeface="Liberation Sans"/>
              </a:defRPr>
            </a:pPr>
            <a:r>
              <a:t>WHITE · PLACED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86A14"/>
                </a:solidFill>
                <a:latin typeface="Liberation Sans"/>
              </a:defRPr>
            </a:pPr>
            <a:r>
              <a:t>Human intervention occurred between these steps; this is not an uninterrupted two-bowl cycle.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11  /  TWO-BOWL TASK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The fixed placement point exposed a multi-bowl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A successful first placement can occupy the destination needed by the next bowl.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12  /  18</a:t>
            </a:r>
          </a:p>
        </p:txBody>
      </p:sp>
      <p:pic>
        <p:nvPicPr>
          <p:cNvPr id="9" name="Picture 8" descr="green_placed.jpg"/>
          <p:cNvPicPr>
            <a:picLocks noChangeAspect="1"/>
          </p:cNvPicPr>
          <p:nvPr/>
        </p:nvPicPr>
        <p:blipFill>
          <a:blip r:embed="rId2"/>
          <a:srcRect l="13281" r="21875" t="24748" b="10373"/>
          <a:stretch>
            <a:fillRect/>
          </a:stretch>
        </p:blipFill>
        <p:spPr>
          <a:xfrm>
            <a:off x="502920" y="1810512"/>
            <a:ext cx="6565392" cy="4105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33488" y="1819656"/>
            <a:ext cx="4352544" cy="131673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488" y="1819656"/>
            <a:ext cx="41148" cy="1316736"/>
          </a:xfrm>
          <a:prstGeom prst="rect">
            <a:avLst/>
          </a:prstGeom>
          <a:solidFill>
            <a:srgbClr val="A8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947672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A86A14"/>
                </a:solidFill>
                <a:latin typeface="Liberation San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478024"/>
            <a:ext cx="4023359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The placed green bowl occupied the fixed destination.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3319272"/>
            <a:ext cx="4352544" cy="131673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33488" y="3319272"/>
            <a:ext cx="41148" cy="1316736"/>
          </a:xfrm>
          <a:prstGeom prst="rect">
            <a:avLst/>
          </a:prstGeom>
          <a:solidFill>
            <a:srgbClr val="A86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3447288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A86A14"/>
                </a:solidFill>
                <a:latin typeface="Liberation Sans"/>
              </a:defRPr>
            </a:pPr>
            <a:r>
              <a:t>What the trial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977639"/>
            <a:ext cx="4023359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An operator cleared the destination before the white-bowl trial.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4864608"/>
            <a:ext cx="4059936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86A78"/>
                </a:solidFill>
                <a:latin typeface="Liberation Sans"/>
              </a:defRPr>
            </a:pPr>
            <a:r>
              <a:t>Not yet implemented:</a:t>
            </a:r>
          </a:p>
          <a:p>
            <a:pPr>
              <a:spcAft>
                <a:spcPts val="300"/>
              </a:spcAft>
              <a:defRPr sz="1800" b="0">
                <a:solidFill>
                  <a:srgbClr val="586A78"/>
                </a:solidFill>
                <a:latin typeface="Liberation Sans"/>
              </a:defRPr>
            </a:pPr>
            <a:r>
              <a:t>placement occupancy sensing</a:t>
            </a:r>
          </a:p>
          <a:p>
            <a:pPr>
              <a:spcAft>
                <a:spcPts val="300"/>
              </a:spcAft>
              <a:defRPr sz="1800" b="0">
                <a:solidFill>
                  <a:srgbClr val="586A78"/>
                </a:solidFill>
                <a:latin typeface="Liberation Sans"/>
              </a:defRPr>
            </a:pPr>
            <a:r>
              <a:t>or automatic slot 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86A14"/>
                </a:solidFill>
                <a:latin typeface="Liberation Sans"/>
              </a:defRPr>
            </a:pPr>
            <a:r>
              <a:t>Separating the picking ROI prevents re-picking; it does not prove placement capacity.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12  /  LIVE VALIDATION  ·  27 SEP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Post-fix execution completed a full cycle and re-observation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Selected run: execute_02_after_fix  |  real robot and camera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13  /  18</a:t>
            </a:r>
          </a:p>
        </p:txBody>
      </p:sp>
      <p:pic>
        <p:nvPicPr>
          <p:cNvPr id="9" name="Picture 8" descr="lift_02.png"/>
          <p:cNvPicPr>
            <a:picLocks noChangeAspect="1"/>
          </p:cNvPicPr>
          <p:nvPr/>
        </p:nvPicPr>
        <p:blipFill>
          <a:blip r:embed="rId2"/>
          <a:srcRect l="20703" r="22656" t="32988" b="16738"/>
          <a:stretch>
            <a:fillRect/>
          </a:stretch>
        </p:blipFill>
        <p:spPr>
          <a:xfrm>
            <a:off x="502920" y="1810512"/>
            <a:ext cx="626364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" y="5458968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GREEN-BOWL MANIPULATION · ORIGINAL CAMERA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819656"/>
            <a:ext cx="2478024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1929384"/>
            <a:ext cx="22585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Recorded field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18904" y="1819656"/>
            <a:ext cx="2167128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8632" y="1929384"/>
            <a:ext cx="19476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276856"/>
            <a:ext cx="2478024" cy="56692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2395728"/>
            <a:ext cx="225856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Outcome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18904" y="2276856"/>
            <a:ext cx="2167128" cy="56692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2395728"/>
            <a:ext cx="194767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completed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843784"/>
            <a:ext cx="24780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0608" y="2962656"/>
            <a:ext cx="225856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Completed cycles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18904" y="2843784"/>
            <a:ext cx="21671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8632" y="2962656"/>
            <a:ext cx="194767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410712"/>
            <a:ext cx="2478024" cy="56692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3529584"/>
            <a:ext cx="225856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Observation rounds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18904" y="3410712"/>
            <a:ext cx="2167128" cy="56692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8632" y="3529584"/>
            <a:ext cx="194767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977640"/>
            <a:ext cx="24780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4096512"/>
            <a:ext cx="225856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Candidate attempts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18904" y="3977640"/>
            <a:ext cx="21671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632" y="4096512"/>
            <a:ext cx="194767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4544568"/>
            <a:ext cx="2478024" cy="56692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608" y="4663440"/>
            <a:ext cx="225856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Cleanup errors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18904" y="4544568"/>
            <a:ext cx="2167128" cy="56692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4663440"/>
            <a:ext cx="194767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43"/>
                </a:solidFill>
                <a:latin typeface="Liberation Sans"/>
              </a:defRPr>
            </a:pPr>
            <a:r>
              <a:t>None reported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Command completion is logged; independent grasp / placement sensing is not available.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13  /  FAILURE-DRIVEN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An interrupted trial led to stronger process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The first 27 Sep white-bowl run was not counted as a complete success.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14  /  18</a:t>
            </a:r>
          </a:p>
        </p:txBody>
      </p:sp>
      <p:pic>
        <p:nvPicPr>
          <p:cNvPr id="9" name="Picture 8" descr="lift_01.png"/>
          <p:cNvPicPr>
            <a:picLocks noChangeAspect="1"/>
          </p:cNvPicPr>
          <p:nvPr/>
        </p:nvPicPr>
        <p:blipFill>
          <a:blip r:embed="rId2"/>
          <a:srcRect l="20801" r="25488" t="32500" b="13750"/>
          <a:stretch>
            <a:fillRect/>
          </a:stretch>
        </p:blipFill>
        <p:spPr>
          <a:xfrm>
            <a:off x="502920" y="1810512"/>
            <a:ext cx="5029200" cy="3145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" y="5111496"/>
            <a:ext cx="51206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86A14"/>
                </a:solidFill>
                <a:latin typeface="Liberation Sans"/>
              </a:defRPr>
            </a:pPr>
            <a:r>
              <a:t>WHITE BOWL LIFTED · LATER RETREAT WAS CANCELLED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3016" y="187451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A86A14"/>
                </a:solidFill>
                <a:latin typeface="Liberation Sans"/>
              </a:defRPr>
            </a:pPr>
            <a:r>
              <a:t>Observed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3016" y="2350008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The runner exited while the independent executor remained active.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016" y="336499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007F82"/>
                </a:solidFill>
                <a:latin typeface="Liberation Sans"/>
              </a:defRPr>
            </a:pPr>
            <a:r>
              <a:t>Implemented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3016" y="3877056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Process-identity monitoring</a:t>
            </a:r>
          </a:p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Explicit termination-signal handling</a:t>
            </a:r>
          </a:p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Task-owned process cleanup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After motion starts: stop and report errors; do not automatically release, switch candidates or regrasp.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14  /  VALIDATION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Software validation is distinct from physical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Recorded test results  |  suite counts are not combined into a grasp success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15  / 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496312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38528"/>
            <a:ext cx="2276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Validation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9232" y="1828800"/>
            <a:ext cx="150876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38528"/>
            <a:ext cx="1289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7992" y="1828800"/>
            <a:ext cx="100584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8"/>
            <a:ext cx="7863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13831" y="1828800"/>
            <a:ext cx="617220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59" y="1938528"/>
            <a:ext cx="595274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What it verifies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86000"/>
            <a:ext cx="2496312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404872"/>
            <a:ext cx="227685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Regression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99232" y="2286000"/>
            <a:ext cx="150876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404872"/>
            <a:ext cx="128930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503 passed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7992" y="2286000"/>
            <a:ext cx="100584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2404872"/>
            <a:ext cx="78638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27 Sep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13831" y="2286000"/>
            <a:ext cx="617220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59" y="2404872"/>
            <a:ext cx="595274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Logic, state transitions and failure handling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980944"/>
            <a:ext cx="2496312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099815"/>
            <a:ext cx="227685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Isolated ROS startup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99232" y="2980944"/>
            <a:ext cx="150876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099815"/>
            <a:ext cx="128930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7 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7992" y="2980944"/>
            <a:ext cx="100584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099815"/>
            <a:ext cx="78638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27 Sep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13831" y="2980944"/>
            <a:ext cx="617220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59" y="3099815"/>
            <a:ext cx="595274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Controller checks and startup behavior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75887"/>
            <a:ext cx="2496312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3794759"/>
            <a:ext cx="227685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Launch contracts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3675887"/>
            <a:ext cx="150876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3794759"/>
            <a:ext cx="128930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32 checks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07992" y="3675887"/>
            <a:ext cx="100584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3794759"/>
            <a:ext cx="78638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27 Sep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13831" y="3675887"/>
            <a:ext cx="617220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59" y="3794759"/>
            <a:ext cx="595274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Parameters, namespaces and supervision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370831"/>
            <a:ext cx="2496312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4489703"/>
            <a:ext cx="227685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MoveIt integration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232" y="4370831"/>
            <a:ext cx="150876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489703"/>
            <a:ext cx="128930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15 checks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07992" y="4370831"/>
            <a:ext cx="100584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4489703"/>
            <a:ext cx="78638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25 Sep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13831" y="4370831"/>
            <a:ext cx="617220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59" y="4489703"/>
            <a:ext cx="595274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Real planning with simulated execution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065775"/>
            <a:ext cx="2496312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5184647"/>
            <a:ext cx="227685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Physical trials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99232" y="5065775"/>
            <a:ext cx="150876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0" y="5184647"/>
            <a:ext cx="128930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Images + logs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07992" y="5065775"/>
            <a:ext cx="100584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5184647"/>
            <a:ext cx="78638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23 / 27 Sep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13831" y="5065775"/>
            <a:ext cx="6172200" cy="694944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59" y="5184647"/>
            <a:ext cx="595274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Supervised lifting, placement and retreat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Physical success rate remains unmeasured; automated test coverage is a separate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15  /  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What is demonstrated, and what needs the next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A working manipulation system with explicit evidence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16  / 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68112" cy="308152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1148" cy="3081528"/>
          </a:xfrm>
          <a:prstGeom prst="rect">
            <a:avLst/>
          </a:prstGeom>
          <a:solidFill>
            <a:srgbClr val="007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56816"/>
            <a:ext cx="51389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7F82"/>
                </a:solidFill>
                <a:latin typeface="Liberation Sans"/>
              </a:defRPr>
            </a:pPr>
            <a:r>
              <a:t>Demonstrated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87168"/>
            <a:ext cx="5138928" cy="2350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Two-instance perception and local geometry</a:t>
            </a:r>
          </a:p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Candidate-based complete-path planning</a:t>
            </a:r>
          </a:p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Physical lifts and placements</a:t>
            </a:r>
          </a:p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Fresh observation after a completed cycle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68112" cy="3081528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41148" cy="3081528"/>
          </a:xfrm>
          <a:prstGeom prst="rect">
            <a:avLst/>
          </a:prstGeom>
          <a:solidFill>
            <a:srgbClr val="246F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56816"/>
            <a:ext cx="51389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246FBC"/>
                </a:solidFill>
                <a:latin typeface="Liberation Sans"/>
              </a:defRPr>
            </a:pPr>
            <a:r>
              <a:t>Next controlled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487168"/>
            <a:ext cx="5138928" cy="2350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Single vs. multiple candidates</a:t>
            </a:r>
          </a:p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Frozen targets vs. fresh observations</a:t>
            </a:r>
          </a:p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Repeated white / green bowl trials</a:t>
            </a:r>
          </a:p>
          <a:p>
            <a:pPr>
              <a:spcAft>
                <a:spcPts val="300"/>
              </a:spcAft>
              <a:defRPr sz="2100" b="0">
                <a:solidFill>
                  <a:srgbClr val="142D43"/>
                </a:solidFill>
                <a:latin typeface="Liberation Sans"/>
              </a:defRPr>
            </a:pPr>
            <a:r>
              <a:t>Placement occupancy and grasp sensing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57800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42D43"/>
                </a:solidFill>
                <a:latin typeface="Liberation Sans"/>
              </a:defRPr>
            </a:pPr>
            <a:r>
              <a:t>Measure: physical grasp success · full-cycle success · cycle time · human interventions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Goal: quantify the benefit of the added functions, not only demonstrate that a run can finish.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APPENDIX  /  IMPLEMENTATION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Appendix A — Current configuration and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Values describe the current project configuration, not universal operating limits.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17  / 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19656"/>
            <a:ext cx="242316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29384"/>
            <a:ext cx="22037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19656"/>
            <a:ext cx="3410712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929384"/>
            <a:ext cx="31912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Current setting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819656"/>
            <a:ext cx="5349240" cy="457200"/>
          </a:xfrm>
          <a:prstGeom prst="rect">
            <a:avLst/>
          </a:prstGeom>
          <a:solidFill>
            <a:srgbClr val="142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29384"/>
            <a:ext cx="512978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Meaning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76856"/>
            <a:ext cx="2423160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395728"/>
            <a:ext cx="2203704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Candidate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276856"/>
            <a:ext cx="3410712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2395728"/>
            <a:ext cx="319125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/rim_locator/grasp_candidates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792" y="2276856"/>
            <a:ext cx="5349240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95728"/>
            <a:ext cx="5129783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Versioned JSON grouped by object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52928"/>
            <a:ext cx="242316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971800"/>
            <a:ext cx="2203704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Candidates per bowl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852928"/>
            <a:ext cx="3410712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2971800"/>
            <a:ext cx="319125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Up to 8; 4 mm separation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6792" y="2852928"/>
            <a:ext cx="53492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971800"/>
            <a:ext cx="5129783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Bounded local contact alternatives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29000"/>
            <a:ext cx="2423160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547872"/>
            <a:ext cx="2203704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Tool / planning frame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3429000"/>
            <a:ext cx="3410712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5808" y="3547872"/>
            <a:ext cx="319125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grasp_center / tool0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792" y="3429000"/>
            <a:ext cx="5349240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547872"/>
            <a:ext cx="5129783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Connected by fixed TF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005072"/>
            <a:ext cx="242316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123944"/>
            <a:ext cx="2203704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Approach / lift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005072"/>
            <a:ext cx="3410712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5808" y="4123944"/>
            <a:ext cx="319125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0.10 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36792" y="4005072"/>
            <a:ext cx="53492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123944"/>
            <a:ext cx="5129783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Along base_link 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81144"/>
            <a:ext cx="2423160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4700016"/>
            <a:ext cx="2203704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Place descent / dwell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4581144"/>
            <a:ext cx="3410712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35808" y="4700016"/>
            <a:ext cx="319125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0.20 m / 1.0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36792" y="4581144"/>
            <a:ext cx="5349240" cy="576072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700016"/>
            <a:ext cx="5129783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Fixed reference, then release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157216"/>
            <a:ext cx="242316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5276088"/>
            <a:ext cx="2203704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Target age ceiling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5157216"/>
            <a:ext cx="3410712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35808" y="5276088"/>
            <a:ext cx="3191256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600 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36792" y="5157216"/>
            <a:ext cx="53492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276088"/>
            <a:ext cx="5129783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New capture still required each round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No added table model or gripper envelope; URDF robot geometry and trajectory checks remain active.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APPENDIX  / 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PROJECT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D43"/>
                </a:solidFill>
                <a:latin typeface="Liberation Sans"/>
              </a:defRPr>
            </a:pPr>
            <a:r>
              <a:t>Appendix B — Reproduction and source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075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86A78"/>
                </a:solidFill>
                <a:latin typeface="Liberation Sans"/>
              </a:defRPr>
            </a:pPr>
            <a:r>
              <a:t>Root-level scripts and matching New_run wrappers use the same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586A78"/>
                </a:solidFill>
                <a:latin typeface="Liberation Sans"/>
              </a:defRPr>
            </a:pPr>
            <a:r>
              <a:t>UR5e  /  RGB-D BOWL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5836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>
                <a:solidFill>
                  <a:srgbClr val="586A78"/>
                </a:solidFill>
                <a:latin typeface="Liberation Sans"/>
              </a:defRPr>
            </a:pPr>
            <a:r>
              <a:t>18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OFFLINE BUILD AND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1183112" cy="59436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22576"/>
            <a:ext cx="107899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142D43"/>
                </a:solidFill>
                <a:latin typeface="Liberation Mono"/>
              </a:defRPr>
            </a:pPr>
            <a:r>
              <a:t>./run_pipeline_place_offline_test.sh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26664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7F82"/>
                </a:solidFill>
                <a:latin typeface="Liberation Sans"/>
              </a:defRPr>
            </a:pPr>
            <a:r>
              <a:t>HARDWARE PREPARATION → PREVIEW → EXECUTION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37560"/>
            <a:ext cx="11183112" cy="105156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93008"/>
            <a:ext cx="1078992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Mono"/>
              </a:defRPr>
            </a:pPr>
            <a:r>
              <a:t>./run_robot_prepare.sh</a:t>
            </a:r>
          </a:p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Mono"/>
              </a:defRPr>
            </a:pPr>
            <a:r>
              <a:t>./run_pipeline_place_test.sh --vision-config &lt;site_roi.json&gt;</a:t>
            </a:r>
          </a:p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Mono"/>
              </a:defRPr>
            </a:pPr>
            <a:r>
              <a:t>./run_pipeline_place_execute.sh --vision-config &lt;site_roi.json&gt;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86A78"/>
                </a:solidFill>
                <a:latin typeface="Liberation Sans"/>
              </a:defRPr>
            </a:pPr>
            <a:r>
              <a:t>Site ROI: src/yolo_vision/config/live_pick_roi_20260927.json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184648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Primary evidence: docs/live_demo_verification_20260927.md</a:t>
            </a:r>
          </a:p>
          <a:p>
            <a:pPr>
              <a:spcAft>
                <a:spcPts val="300"/>
              </a:spcAft>
              <a:defRPr sz="1700" b="0">
                <a:solidFill>
                  <a:srgbClr val="142D43"/>
                </a:solidFill>
                <a:latin typeface="Liberation Sans"/>
              </a:defRPr>
            </a:pPr>
            <a:r>
              <a:t>Recorded images and logs: debug_output/live_demo_20260927_gjgip1/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007608"/>
            <a:ext cx="11183112" cy="356616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6071616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7F82"/>
                </a:solidFill>
                <a:latin typeface="Liberation Sans"/>
              </a:defRPr>
            </a:pPr>
            <a:r>
              <a:t>English slides · Chinese speaker notes · original experimental images · traceable source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RGB-D–Guided Bowl Grasping and Placement with a UR5e</dc:title>
  <dc:subject>Research progress; two-bowl perception, geometry, planning and supervised trials</dc:subject>
  <dc:creator>Robot Grasping Project</dc:creator>
  <cp:keywords>UR5e, ROS2, MoveIt, bowl grasping, RGB-D, Chinese speaker notes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